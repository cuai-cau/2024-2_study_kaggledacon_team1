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61" r:id="rId3"/>
    <p:sldId id="257" r:id="rId4"/>
    <p:sldId id="258" r:id="rId5"/>
    <p:sldId id="260" r:id="rId6"/>
    <p:sldId id="262" r:id="rId7"/>
    <p:sldId id="267" r:id="rId8"/>
    <p:sldId id="264" r:id="rId9"/>
    <p:sldId id="268" r:id="rId10"/>
    <p:sldId id="269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84" autoAdjust="0"/>
    <p:restoredTop sz="86408" autoAdjust="0"/>
  </p:normalViewPr>
  <p:slideViewPr>
    <p:cSldViewPr snapToGrid="0">
      <p:cViewPr varScale="1">
        <p:scale>
          <a:sx n="95" d="100"/>
          <a:sy n="95" d="100"/>
        </p:scale>
        <p:origin x="176" y="92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나눔고딕" panose="020D0604000000000000" pitchFamily="50" charset="-127"/>
        <a:ea typeface="나눔고딕" panose="020D0604000000000000" pitchFamily="50" charset="-127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9527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altLang="ko-Kore-GB" b="0" i="0" dirty="0">
                <a:solidFill>
                  <a:srgbClr val="212529"/>
                </a:solidFill>
                <a:effectLst/>
                <a:latin typeface="-apple-system"/>
              </a:rPr>
              <a:t>NLTK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의 </a:t>
            </a:r>
            <a:r>
              <a:rPr lang="en" altLang="ko-Kore-GB" b="0" i="0" dirty="0" err="1">
                <a:solidFill>
                  <a:srgbClr val="212529"/>
                </a:solidFill>
                <a:effectLst/>
                <a:latin typeface="-apple-system"/>
              </a:rPr>
              <a:t>word_tokenize</a:t>
            </a:r>
            <a:r>
              <a:rPr lang="en" altLang="ko-Kore-GB" b="0" i="0" dirty="0">
                <a:solidFill>
                  <a:srgbClr val="212529"/>
                </a:solidFill>
                <a:effectLst/>
                <a:latin typeface="-apple-system"/>
              </a:rPr>
              <a:t>()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로 </a:t>
            </a:r>
            <a:r>
              <a:rPr lang="ko-KR" altLang="en-US" b="0" i="0" dirty="0" err="1">
                <a:solidFill>
                  <a:srgbClr val="212529"/>
                </a:solidFill>
                <a:effectLst/>
                <a:latin typeface="-apple-system"/>
              </a:rPr>
              <a:t>토큰화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 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~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 하고 </a:t>
            </a:r>
            <a:r>
              <a:rPr lang="ko-KR" altLang="en-US" b="0" i="0" dirty="0" err="1">
                <a:solidFill>
                  <a:srgbClr val="212529"/>
                </a:solidFill>
                <a:effectLst/>
                <a:latin typeface="-apple-system"/>
              </a:rPr>
              <a:t>불용어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 제거하면 </a:t>
            </a:r>
            <a:endParaRPr lang="en-US" altLang="ko-KR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altLang="ko-Kore-GB" b="0" i="0" dirty="0">
                <a:solidFill>
                  <a:srgbClr val="3C4043"/>
                </a:solidFill>
                <a:effectLst/>
                <a:latin typeface="Inter"/>
              </a:rPr>
              <a:t> "I", "me", "to" , "the" </a:t>
            </a:r>
            <a:r>
              <a:rPr lang="ko-KR" altLang="en-US" b="0" i="0" dirty="0">
                <a:solidFill>
                  <a:srgbClr val="3C4043"/>
                </a:solidFill>
                <a:effectLst/>
                <a:latin typeface="Inter"/>
              </a:rPr>
              <a:t>등이 제거된 거 확인할 수 있음</a:t>
            </a:r>
            <a:r>
              <a:rPr lang="en-US" altLang="ko-KR" b="0" i="0" dirty="0">
                <a:solidFill>
                  <a:srgbClr val="3C4043"/>
                </a:solidFill>
                <a:effectLst/>
                <a:latin typeface="Inter"/>
              </a:rPr>
              <a:t>.</a:t>
            </a:r>
            <a:r>
              <a:rPr lang="ko-KR" altLang="en-US" b="0" i="0" dirty="0">
                <a:solidFill>
                  <a:srgbClr val="3C4043"/>
                </a:solidFill>
                <a:effectLst/>
                <a:latin typeface="Inter"/>
              </a:rPr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23647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" altLang="ko-Kore-GB" dirty="0">
                <a:solidFill>
                  <a:srgbClr val="202214"/>
                </a:solidFill>
                <a:latin typeface="+mj-ea"/>
                <a:ea typeface="+mj-ea"/>
              </a:rPr>
              <a:t>Stemming</a:t>
            </a:r>
            <a:r>
              <a:rPr lang="en-US" altLang="ko-KR" dirty="0">
                <a:solidFill>
                  <a:srgbClr val="202214"/>
                </a:solidFill>
                <a:latin typeface="+mj-ea"/>
                <a:ea typeface="+mj-ea"/>
              </a:rPr>
              <a:t>(</a:t>
            </a:r>
            <a:r>
              <a:rPr lang="en" altLang="ko-Kore-GB" b="0" i="0" dirty="0">
                <a:solidFill>
                  <a:srgbClr val="212529"/>
                </a:solidFill>
                <a:effectLst/>
                <a:latin typeface="-apple-system"/>
              </a:rPr>
              <a:t>NLTK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의 </a:t>
            </a:r>
            <a:r>
              <a:rPr lang="en" altLang="ko-Kore-GB" dirty="0" err="1"/>
              <a:t>PorterStemmer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)</a:t>
            </a:r>
            <a:r>
              <a:rPr lang="en-US" altLang="ko-KR" dirty="0">
                <a:solidFill>
                  <a:srgbClr val="202214"/>
                </a:solidFill>
                <a:latin typeface="+mj-ea"/>
                <a:ea typeface="+mj-ea"/>
              </a:rPr>
              <a:t>:</a:t>
            </a:r>
            <a:r>
              <a:rPr lang="ko-KR" altLang="en-US" dirty="0">
                <a:solidFill>
                  <a:srgbClr val="202214"/>
                </a:solidFill>
                <a:latin typeface="+mj-ea"/>
                <a:ea typeface="+mj-ea"/>
              </a:rPr>
              <a:t>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단어의 접미사 등을 단순히 제거하여 단어를 기본 형태로 변환하는 과정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  <a:ea typeface="나눔고딕" panose="020D0604000000000000" pitchFamily="50" charset="-127"/>
              </a:rPr>
              <a:t> 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  <a:ea typeface="나눔고딕" panose="020D0604000000000000" pitchFamily="50" charset="-127"/>
              </a:rPr>
              <a:t>ex. </a:t>
            </a:r>
            <a:r>
              <a:rPr lang="en-US" altLang="ko-KR" dirty="0">
                <a:solidFill>
                  <a:srgbClr val="202214"/>
                </a:solidFill>
                <a:latin typeface="+mj-ea"/>
                <a:ea typeface="+mj-ea"/>
              </a:rPr>
              <a:t>running, runs, run</a:t>
            </a:r>
            <a:r>
              <a:rPr lang="ko-KR" altLang="en-US" dirty="0">
                <a:solidFill>
                  <a:srgbClr val="202214"/>
                </a:solidFill>
                <a:latin typeface="+mj-ea"/>
                <a:ea typeface="+mj-ea"/>
              </a:rPr>
              <a:t>에서 </a:t>
            </a:r>
            <a:r>
              <a:rPr lang="en-US" altLang="ko-KR" dirty="0">
                <a:solidFill>
                  <a:srgbClr val="202214"/>
                </a:solidFill>
                <a:latin typeface="+mj-ea"/>
                <a:ea typeface="+mj-ea"/>
              </a:rPr>
              <a:t>run</a:t>
            </a:r>
            <a:r>
              <a:rPr lang="ko-KR" altLang="en-US" dirty="0">
                <a:solidFill>
                  <a:srgbClr val="202214"/>
                </a:solidFill>
                <a:latin typeface="+mj-ea"/>
                <a:ea typeface="+mj-ea"/>
              </a:rPr>
              <a:t>이라는 어간을 추출 </a:t>
            </a:r>
            <a:r>
              <a:rPr lang="en-US" altLang="ko-KR" dirty="0">
                <a:solidFill>
                  <a:srgbClr val="202214"/>
                </a:solidFill>
                <a:latin typeface="+mj-ea"/>
                <a:ea typeface="+mj-ea"/>
              </a:rPr>
              <a:t>,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규칙에 따라 단어를 줄이는 비교적 단순한 방법이기 때문에 종종 의미가 불명확한 형태가 될 수 있다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.</a:t>
            </a:r>
            <a:r>
              <a:rPr lang="en-US" altLang="ko-KR" b="0" i="0" dirty="0">
                <a:solidFill>
                  <a:srgbClr val="202214"/>
                </a:solidFill>
                <a:effectLst/>
                <a:latin typeface="+mj-ea"/>
                <a:ea typeface="+mj-ea"/>
              </a:rPr>
              <a:t> Ex.</a:t>
            </a:r>
            <a:r>
              <a:rPr lang="ko-KR" altLang="en-US" dirty="0">
                <a:solidFill>
                  <a:srgbClr val="202214"/>
                </a:solidFill>
                <a:latin typeface="+mj-ea"/>
                <a:ea typeface="+mj-ea"/>
              </a:rPr>
              <a:t> </a:t>
            </a:r>
            <a:r>
              <a:rPr lang="en-US" altLang="ko-KR" dirty="0">
                <a:solidFill>
                  <a:srgbClr val="202214"/>
                </a:solidFill>
                <a:latin typeface="+mj-ea"/>
                <a:ea typeface="+mj-ea"/>
              </a:rPr>
              <a:t>leaves</a:t>
            </a:r>
            <a:r>
              <a:rPr lang="ko-KR" altLang="en-US" dirty="0">
                <a:solidFill>
                  <a:srgbClr val="202214"/>
                </a:solidFill>
                <a:latin typeface="+mj-ea"/>
                <a:ea typeface="+mj-ea"/>
              </a:rPr>
              <a:t>의 경우 </a:t>
            </a:r>
            <a:r>
              <a:rPr lang="en-US" altLang="ko-KR" dirty="0" err="1">
                <a:solidFill>
                  <a:srgbClr val="202214"/>
                </a:solidFill>
                <a:latin typeface="+mj-ea"/>
                <a:ea typeface="+mj-ea"/>
              </a:rPr>
              <a:t>leav</a:t>
            </a:r>
            <a:r>
              <a:rPr lang="ko-KR" altLang="en-US" dirty="0" err="1">
                <a:solidFill>
                  <a:srgbClr val="202214"/>
                </a:solidFill>
                <a:latin typeface="+mj-ea"/>
                <a:ea typeface="+mj-ea"/>
              </a:rPr>
              <a:t>으로</a:t>
            </a:r>
            <a:r>
              <a:rPr lang="ko-KR" altLang="en-US" dirty="0">
                <a:solidFill>
                  <a:srgbClr val="202214"/>
                </a:solidFill>
                <a:latin typeface="+mj-ea"/>
                <a:ea typeface="+mj-ea"/>
              </a:rPr>
              <a:t> 결과가 나옴 </a:t>
            </a:r>
            <a:endParaRPr lang="en-US" altLang="ko-KR" dirty="0">
              <a:solidFill>
                <a:srgbClr val="202214"/>
              </a:solidFill>
              <a:latin typeface="+mj-ea"/>
              <a:ea typeface="+mj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>
                <a:solidFill>
                  <a:srgbClr val="202214"/>
                </a:solidFill>
                <a:latin typeface="+mj-ea"/>
                <a:ea typeface="+mj-ea"/>
              </a:rPr>
              <a:t>2.</a:t>
            </a:r>
            <a:r>
              <a:rPr lang="ko-KR" altLang="en-US" dirty="0">
                <a:solidFill>
                  <a:srgbClr val="202214"/>
                </a:solidFill>
                <a:latin typeface="+mj-ea"/>
                <a:ea typeface="+mj-ea"/>
              </a:rPr>
              <a:t> </a:t>
            </a:r>
            <a:r>
              <a:rPr lang="en-US" altLang="ko-KR" dirty="0">
                <a:solidFill>
                  <a:srgbClr val="202214"/>
                </a:solidFill>
                <a:latin typeface="+mj-ea"/>
                <a:ea typeface="+mj-ea"/>
              </a:rPr>
              <a:t>Lemmatization(</a:t>
            </a:r>
            <a:r>
              <a:rPr lang="en" altLang="ko-Kore-GB" b="0" i="0" dirty="0">
                <a:solidFill>
                  <a:srgbClr val="212529"/>
                </a:solidFill>
                <a:effectLst/>
                <a:latin typeface="-apple-system"/>
              </a:rPr>
              <a:t>NLTK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의 </a:t>
            </a:r>
            <a:r>
              <a:rPr lang="en" altLang="ko-Kore-GB" b="0" i="0" dirty="0" err="1">
                <a:solidFill>
                  <a:srgbClr val="212529"/>
                </a:solidFill>
                <a:effectLst/>
                <a:latin typeface="-apple-system"/>
              </a:rPr>
              <a:t>WordNetLemmatizer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)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 </a:t>
            </a:r>
            <a:r>
              <a:rPr lang="en-US" altLang="ko-KR" dirty="0">
                <a:solidFill>
                  <a:srgbClr val="202214"/>
                </a:solidFill>
                <a:latin typeface="+mj-ea"/>
                <a:ea typeface="+mj-ea"/>
              </a:rPr>
              <a:t>:</a:t>
            </a:r>
            <a:r>
              <a:rPr lang="ko-KR" altLang="en-US" dirty="0">
                <a:solidFill>
                  <a:srgbClr val="202214"/>
                </a:solidFill>
                <a:latin typeface="+mj-ea"/>
                <a:ea typeface="+mj-ea"/>
              </a:rPr>
              <a:t>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 실제 사전적 의미에 기반하여 단어를 기본 형태로 줄이는 과정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,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 단어의 어근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(</a:t>
            </a:r>
            <a:r>
              <a:rPr lang="en" altLang="ko-Kore-GB" b="0" i="0" dirty="0">
                <a:solidFill>
                  <a:srgbClr val="212529"/>
                </a:solidFill>
                <a:effectLst/>
                <a:latin typeface="-apple-system"/>
              </a:rPr>
              <a:t>lemma)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을 유지하면서 형태를 줄임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483351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ko-KR" altLang="en-US" dirty="0" err="1"/>
              <a:t>희소행렬</a:t>
            </a:r>
            <a:r>
              <a:rPr lang="ko-KR" altLang="en-US" dirty="0"/>
              <a:t> 추가 설명 </a:t>
            </a:r>
            <a:r>
              <a:rPr lang="en-US" altLang="ko-KR" dirty="0"/>
              <a:t>&gt;&gt;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문서가 많아지고</a:t>
            </a:r>
            <a:r>
              <a:rPr lang="en-US" altLang="ko-KR" dirty="0"/>
              <a:t>, </a:t>
            </a:r>
            <a:r>
              <a:rPr lang="ko-KR" altLang="en-US" dirty="0"/>
              <a:t>어휘 집합</a:t>
            </a:r>
            <a:r>
              <a:rPr lang="en-US" altLang="ko-KR" dirty="0"/>
              <a:t>(</a:t>
            </a:r>
            <a:r>
              <a:rPr lang="en" altLang="ko-Kore-GB" dirty="0"/>
              <a:t>vocabulary)</a:t>
            </a:r>
            <a:r>
              <a:rPr lang="ko-KR" altLang="en-US" dirty="0"/>
              <a:t>의 크기가 수천</a:t>
            </a:r>
            <a:r>
              <a:rPr lang="en-US" altLang="ko-KR" dirty="0"/>
              <a:t>, </a:t>
            </a:r>
            <a:r>
              <a:rPr lang="ko-KR" altLang="en-US" dirty="0"/>
              <a:t>수만 개 단어로 늘어나면 각 문서에서 등장하지 않는 단어가 훨씬 많아집니다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대부분의 단어는 특정 문서에 등장하지 않기 때문에</a:t>
            </a:r>
            <a:r>
              <a:rPr lang="en-US" altLang="ko-KR" dirty="0"/>
              <a:t>, </a:t>
            </a:r>
            <a:r>
              <a:rPr lang="ko-KR" altLang="en-US" dirty="0" err="1"/>
              <a:t>벡터화된</a:t>
            </a:r>
            <a:r>
              <a:rPr lang="ko-KR" altLang="en-US" dirty="0"/>
              <a:t> 배열에서 대부분의 값이 </a:t>
            </a:r>
            <a:r>
              <a:rPr lang="en-US" altLang="ko-KR" dirty="0"/>
              <a:t>0</a:t>
            </a:r>
            <a:r>
              <a:rPr lang="ko-KR" altLang="en-US" dirty="0"/>
              <a:t>이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예를 들어</a:t>
            </a:r>
            <a:r>
              <a:rPr lang="en-US" altLang="ko-KR" dirty="0"/>
              <a:t>, 10,000</a:t>
            </a:r>
            <a:r>
              <a:rPr lang="ko-KR" altLang="en-US" dirty="0"/>
              <a:t>개의 단어로 구성된 어휘를 사용하여 문서 </a:t>
            </a:r>
            <a:r>
              <a:rPr lang="en-US" altLang="ko-KR" dirty="0"/>
              <a:t>1,000</a:t>
            </a:r>
            <a:r>
              <a:rPr lang="ko-KR" altLang="en-US" dirty="0"/>
              <a:t>개를 </a:t>
            </a:r>
            <a:r>
              <a:rPr lang="ko-KR" altLang="en-US" dirty="0" err="1"/>
              <a:t>벡터화한다고</a:t>
            </a:r>
            <a:r>
              <a:rPr lang="ko-KR" altLang="en-US" dirty="0"/>
              <a:t> 가정해 봅시다</a:t>
            </a:r>
            <a:r>
              <a:rPr lang="en-US" altLang="ko-KR" dirty="0"/>
              <a:t>. </a:t>
            </a:r>
            <a:r>
              <a:rPr lang="ko-KR" altLang="en-US" dirty="0"/>
              <a:t>각 문서에 포함된 단어 수는 제한적이기 때문에 대부분의 셀은 </a:t>
            </a:r>
            <a:r>
              <a:rPr lang="en-US" altLang="ko-KR" dirty="0"/>
              <a:t>0</a:t>
            </a:r>
            <a:r>
              <a:rPr lang="ko-KR" altLang="en-US" dirty="0" err="1"/>
              <a:t>으로</a:t>
            </a:r>
            <a:r>
              <a:rPr lang="ko-KR" altLang="en-US" dirty="0"/>
              <a:t> 채워질 것입니다</a:t>
            </a:r>
            <a:r>
              <a:rPr lang="en-US" altLang="ko-KR" dirty="0"/>
              <a:t>. </a:t>
            </a:r>
            <a:r>
              <a:rPr lang="ko-KR" altLang="en-US" dirty="0"/>
              <a:t>이러한 상황에서 </a:t>
            </a:r>
            <a:r>
              <a:rPr lang="ko-KR" altLang="en-US" b="1" dirty="0"/>
              <a:t>희소 행렬</a:t>
            </a:r>
            <a:r>
              <a:rPr lang="ko-KR" altLang="en-US" dirty="0"/>
              <a:t>로 저장하면 메모리를 크게 절약할 수 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b="1" i="0" dirty="0">
                <a:solidFill>
                  <a:srgbClr val="3C4043"/>
                </a:solidFill>
                <a:effectLst/>
                <a:latin typeface="Inter"/>
              </a:rPr>
              <a:t>https://coding-</a:t>
            </a:r>
            <a:r>
              <a:rPr lang="en-US" altLang="ko-KR" b="1" i="0" dirty="0" err="1">
                <a:solidFill>
                  <a:srgbClr val="3C4043"/>
                </a:solidFill>
                <a:effectLst/>
                <a:latin typeface="Inter"/>
              </a:rPr>
              <a:t>potato.tistory.com</a:t>
            </a:r>
            <a:r>
              <a:rPr lang="en-US" altLang="ko-KR" b="1" i="0" dirty="0">
                <a:solidFill>
                  <a:srgbClr val="3C4043"/>
                </a:solidFill>
                <a:effectLst/>
                <a:latin typeface="Inter"/>
              </a:rPr>
              <a:t>/19</a:t>
            </a:r>
            <a:r>
              <a:rPr lang="ko-KR" altLang="en-US" b="1" i="0" dirty="0">
                <a:solidFill>
                  <a:srgbClr val="3C4043"/>
                </a:solidFill>
                <a:effectLst/>
                <a:latin typeface="Inter"/>
              </a:rPr>
              <a:t> </a:t>
            </a:r>
            <a:endParaRPr lang="en-US" altLang="ko-KR" b="1" i="0" dirty="0">
              <a:solidFill>
                <a:srgbClr val="3C4043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7683384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두번째 코드는 우리 문제 </a:t>
            </a:r>
            <a:r>
              <a:rPr lang="en-US" altLang="ko-KR" dirty="0"/>
              <a:t>(3-</a:t>
            </a:r>
            <a:r>
              <a:rPr lang="ko-KR" altLang="en-US" dirty="0"/>
              <a:t> 클래스 분류 문제</a:t>
            </a:r>
            <a:r>
              <a:rPr lang="en-US" altLang="ko-KR" dirty="0"/>
              <a:t>)</a:t>
            </a:r>
            <a:r>
              <a:rPr lang="ko-KR" altLang="en-US" dirty="0"/>
              <a:t> 에 대해</a:t>
            </a:r>
            <a:r>
              <a:rPr lang="en-US" altLang="ko-KR" dirty="0"/>
              <a:t> </a:t>
            </a:r>
            <a:r>
              <a:rPr lang="ko-KR" altLang="en-US" dirty="0"/>
              <a:t>다양한 조합으로 모델 써보는 코드 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1.</a:t>
            </a:r>
            <a:r>
              <a:rPr lang="ko-KR" altLang="en-US" dirty="0"/>
              <a:t> 기본 </a:t>
            </a:r>
            <a:r>
              <a:rPr lang="en-US" altLang="ko-KR" dirty="0" err="1"/>
              <a:t>tf-idf</a:t>
            </a:r>
            <a:r>
              <a:rPr lang="en-US" altLang="ko-KR" dirty="0"/>
              <a:t> </a:t>
            </a:r>
            <a:r>
              <a:rPr lang="ko-KR" altLang="en-US" dirty="0"/>
              <a:t>에 </a:t>
            </a:r>
            <a:r>
              <a:rPr lang="ko-KR" altLang="en-US" dirty="0" err="1"/>
              <a:t>로지스틱</a:t>
            </a:r>
            <a:r>
              <a:rPr lang="ko-KR" altLang="en-US" dirty="0"/>
              <a:t> 회귀 모델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98932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기본 </a:t>
            </a:r>
            <a:r>
              <a:rPr lang="ko-KR" altLang="en-US" b="1" dirty="0" err="1"/>
              <a:t>로지스틱</a:t>
            </a:r>
            <a:r>
              <a:rPr lang="ko-KR" altLang="en-US" b="1" dirty="0"/>
              <a:t> 회귀</a:t>
            </a:r>
            <a:r>
              <a:rPr lang="ko-KR" altLang="en-US" dirty="0"/>
              <a:t>와 </a:t>
            </a:r>
            <a:r>
              <a:rPr lang="ko-KR" altLang="en-US" b="1" dirty="0" err="1"/>
              <a:t>나이브</a:t>
            </a:r>
            <a:r>
              <a:rPr lang="ko-KR" altLang="en-US" b="1" dirty="0"/>
              <a:t> </a:t>
            </a:r>
            <a:r>
              <a:rPr lang="ko-KR" altLang="en-US" b="1" dirty="0" err="1"/>
              <a:t>베이즈</a:t>
            </a:r>
            <a:r>
              <a:rPr lang="ko-KR" altLang="en-US" dirty="0" err="1"/>
              <a:t>는</a:t>
            </a:r>
            <a:r>
              <a:rPr lang="ko-KR" altLang="en-US" dirty="0"/>
              <a:t> 빠르고 비교적 좋은 성능을 보였습니다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altLang="ko-Kore-GB" b="1" dirty="0"/>
              <a:t>SVM</a:t>
            </a:r>
            <a:r>
              <a:rPr lang="ko-KR" altLang="en-US" dirty="0"/>
              <a:t>과 </a:t>
            </a:r>
            <a:r>
              <a:rPr lang="en" altLang="ko-Kore-GB" b="1" dirty="0" err="1"/>
              <a:t>XGBoost</a:t>
            </a:r>
            <a:r>
              <a:rPr lang="ko-KR" altLang="en-US" dirty="0"/>
              <a:t>는 더 많은 튜닝과 최적화가 필요하지만</a:t>
            </a:r>
            <a:r>
              <a:rPr lang="en-US" altLang="ko-KR" dirty="0"/>
              <a:t>, </a:t>
            </a:r>
            <a:r>
              <a:rPr lang="ko-KR" altLang="en-US" dirty="0"/>
              <a:t>큰 데이터셋에서 잠재적으로 높은 성능을 보일 수 있습니다</a:t>
            </a:r>
            <a:r>
              <a:rPr lang="en-US" altLang="ko-KR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305425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이런 </a:t>
            </a:r>
            <a:r>
              <a:rPr lang="ko-KR" altLang="en-US" dirty="0" err="1"/>
              <a:t>딥러닝</a:t>
            </a:r>
            <a:r>
              <a:rPr lang="ko-KR" altLang="en-US" dirty="0"/>
              <a:t> 모델도 </a:t>
            </a:r>
            <a:r>
              <a:rPr lang="en-US" altLang="ko-KR" dirty="0"/>
              <a:t>..</a:t>
            </a:r>
            <a:r>
              <a:rPr lang="ko-KR" altLang="en-US" dirty="0"/>
              <a:t> 있구나 </a:t>
            </a:r>
            <a:r>
              <a:rPr lang="en-US" altLang="ko-KR" dirty="0"/>
              <a:t>..</a:t>
            </a:r>
            <a:r>
              <a:rPr lang="ko-KR" altLang="en-US" dirty="0"/>
              <a:t> 알아보았다 </a:t>
            </a:r>
            <a:r>
              <a:rPr lang="en-US" altLang="ko-KR" dirty="0"/>
              <a:t>~~</a:t>
            </a:r>
            <a:r>
              <a:rPr lang="ko-KR" altLang="en-US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04423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 dirty="0"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 dirty="0"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 dirty="0"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 dirty="0"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 dirty="0"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rPr dirty="0"/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나눔고딕" panose="020D0604000000000000" pitchFamily="50" charset="-127"/>
          <a:ea typeface="나눔고딕" panose="020D0604000000000000" pitchFamily="50" charset="-127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나눔고딕" panose="020D0604000000000000" pitchFamily="50" charset="-127"/>
          <a:ea typeface="나눔고딕" panose="020D0604000000000000" pitchFamily="50" charset="-127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kaggle.com/abhishek/approaching-almost-any-nlp-problem-on-kaggle" TargetMode="External"/><Relationship Id="rId5" Type="http://schemas.openxmlformats.org/officeDocument/2006/relationships/hyperlink" Target="https://www.kaggle.com/arthurtok/spooky-nlp-and-topic-modelling-tutorial" TargetMode="External"/><Relationship Id="rId4" Type="http://schemas.openxmlformats.org/officeDocument/2006/relationships/hyperlink" Target="https://www.kaggle.com/c/spooky-author-identification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339750" y="2710050"/>
            <a:ext cx="4979400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1926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CUAI </a:t>
            </a:r>
            <a:r>
              <a:rPr lang="ko-KR" altLang="en-US" sz="2500" b="1" dirty="0" err="1">
                <a:solidFill>
                  <a:srgbClr val="1926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캐글</a:t>
            </a:r>
            <a:r>
              <a:rPr lang="en-US" altLang="ko" sz="2500" b="1" dirty="0">
                <a:solidFill>
                  <a:srgbClr val="1926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" sz="2500" b="1" dirty="0">
                <a:solidFill>
                  <a:srgbClr val="1926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스터디 </a:t>
            </a:r>
            <a:endParaRPr sz="2500" b="1" dirty="0">
              <a:solidFill>
                <a:srgbClr val="19264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</a:t>
            </a:r>
            <a:r>
              <a:rPr lang="en-US" altLang="ko" dirty="0">
                <a:solidFill>
                  <a:srgbClr val="1926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" dirty="0">
                <a:solidFill>
                  <a:srgbClr val="1926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en-US" altLang="ko" dirty="0">
                <a:solidFill>
                  <a:srgbClr val="1926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en-US" altLang="ko-KR" dirty="0">
                <a:solidFill>
                  <a:srgbClr val="1926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" dirty="0">
                <a:solidFill>
                  <a:srgbClr val="1926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en-US" altLang="ko-KR" dirty="0">
                <a:solidFill>
                  <a:srgbClr val="1926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dirty="0">
              <a:solidFill>
                <a:srgbClr val="19264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발표자 :</a:t>
            </a:r>
            <a:r>
              <a:rPr lang="ko" altLang="en-US" sz="1100" dirty="0">
                <a:solidFill>
                  <a:srgbClr val="19264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이혜원</a:t>
            </a:r>
            <a:endParaRPr sz="1100" dirty="0">
              <a:solidFill>
                <a:srgbClr val="19264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altLang="en-US" sz="2000" b="1" dirty="0">
                <a:solidFill>
                  <a:srgbClr val="19264B"/>
                </a:solidFill>
                <a:latin typeface="+mj-ea"/>
                <a:ea typeface="+mj-ea"/>
                <a:cs typeface="NanumGothic ExtraBold"/>
                <a:sym typeface="NanumGothic ExtraBold"/>
              </a:rPr>
              <a:t>목차</a:t>
            </a:r>
            <a:r>
              <a:rPr lang="ko-KR" altLang="en-US" sz="2000" b="1" dirty="0">
                <a:solidFill>
                  <a:srgbClr val="19264B"/>
                </a:solidFill>
                <a:latin typeface="+mj-ea"/>
                <a:ea typeface="+mj-ea"/>
                <a:cs typeface="NanumGothic ExtraBold"/>
                <a:sym typeface="NanumGothic ExtraBold"/>
              </a:rPr>
              <a:t> </a:t>
            </a:r>
            <a:endParaRPr sz="2000" b="1" dirty="0">
              <a:solidFill>
                <a:srgbClr val="19264B"/>
              </a:solidFill>
              <a:latin typeface="+mj-ea"/>
              <a:ea typeface="+mj-ea"/>
              <a:cs typeface="NanumGothic ExtraBold"/>
              <a:sym typeface="NanumGothic ExtraBol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9E1921-D6BD-CB48-9EDF-5477C12D63E0}"/>
              </a:ext>
            </a:extLst>
          </p:cNvPr>
          <p:cNvSpPr txBox="1"/>
          <p:nvPr/>
        </p:nvSpPr>
        <p:spPr>
          <a:xfrm>
            <a:off x="1574937" y="823066"/>
            <a:ext cx="6954700" cy="1748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400" b="1" i="0" dirty="0">
                <a:solidFill>
                  <a:srgbClr val="212529"/>
                </a:solidFill>
                <a:effectLst/>
                <a:latin typeface="+mj-lt"/>
              </a:rPr>
              <a:t>[</a:t>
            </a:r>
            <a:r>
              <a:rPr lang="en" altLang="ko-Kore-GB" sz="1400" b="1" i="0" dirty="0">
                <a:solidFill>
                  <a:srgbClr val="212529"/>
                </a:solidFill>
                <a:effectLst/>
                <a:latin typeface="+mj-lt"/>
              </a:rPr>
              <a:t>Spooky Author Identification</a:t>
            </a:r>
            <a:r>
              <a:rPr lang="en-US" altLang="ko-KR" sz="1400" b="1" i="0" dirty="0">
                <a:solidFill>
                  <a:srgbClr val="212529"/>
                </a:solidFill>
                <a:effectLst/>
                <a:latin typeface="+mj-lt"/>
              </a:rPr>
              <a:t>]</a:t>
            </a:r>
            <a:r>
              <a:rPr lang="ko-KR" altLang="en-US" sz="1400" b="1" i="0" dirty="0">
                <a:solidFill>
                  <a:srgbClr val="212529"/>
                </a:solidFill>
                <a:effectLst/>
                <a:latin typeface="+mj-lt"/>
              </a:rPr>
              <a:t> </a:t>
            </a:r>
            <a:r>
              <a:rPr lang="en" altLang="ko-Kore-GB" b="1" dirty="0">
                <a:solidFill>
                  <a:srgbClr val="000000"/>
                </a:solidFill>
                <a:effectLst/>
                <a:latin typeface="Helvetica Neue" panose="02000503000000020004" pitchFamily="2" charset="0"/>
                <a:hlinkClick r:id="rId4"/>
              </a:rPr>
              <a:t>1st level. Spooky Author Identification</a:t>
            </a:r>
            <a:endParaRPr lang="en-US" altLang="ko-KR" sz="1400" b="1" i="0" dirty="0">
              <a:solidFill>
                <a:srgbClr val="212529"/>
              </a:solidFill>
              <a:effectLst/>
              <a:latin typeface="+mj-lt"/>
            </a:endParaRPr>
          </a:p>
          <a:p>
            <a:pPr>
              <a:lnSpc>
                <a:spcPct val="200000"/>
              </a:lnSpc>
            </a:pPr>
            <a:r>
              <a:rPr lang="en-US" altLang="ko-KR" b="1" dirty="0">
                <a:solidFill>
                  <a:srgbClr val="212529"/>
                </a:solidFill>
                <a:latin typeface="+mj-lt"/>
              </a:rPr>
              <a:t>1.</a:t>
            </a:r>
            <a:r>
              <a:rPr lang="ko-KR" altLang="en-US" b="1" dirty="0">
                <a:solidFill>
                  <a:srgbClr val="212529"/>
                </a:solidFill>
                <a:latin typeface="+mj-lt"/>
              </a:rPr>
              <a:t> 첫번째 코드</a:t>
            </a:r>
            <a:r>
              <a:rPr lang="en-US" altLang="ko-KR" b="1" dirty="0">
                <a:solidFill>
                  <a:srgbClr val="212529"/>
                </a:solidFill>
                <a:latin typeface="+mj-lt"/>
              </a:rPr>
              <a:t>:</a:t>
            </a:r>
            <a:r>
              <a:rPr lang="ko-KR" altLang="en-US" b="1" dirty="0">
                <a:solidFill>
                  <a:srgbClr val="212529"/>
                </a:solidFill>
                <a:latin typeface="+mj-lt"/>
              </a:rPr>
              <a:t> </a:t>
            </a:r>
            <a:r>
              <a:rPr lang="en" altLang="ko-Kore-GB" dirty="0">
                <a:solidFill>
                  <a:srgbClr val="000000"/>
                </a:solidFill>
                <a:effectLst/>
                <a:latin typeface="Helvetica Neue" panose="02000503000000020004" pitchFamily="2" charset="0"/>
                <a:hlinkClick r:id="rId5"/>
              </a:rPr>
              <a:t>Spooky NLP and Topic Modelling tutorial</a:t>
            </a:r>
            <a:endParaRPr lang="en-US" altLang="ko-KR" b="1" dirty="0">
              <a:solidFill>
                <a:srgbClr val="212529"/>
              </a:solidFill>
              <a:latin typeface="+mj-lt"/>
            </a:endParaRPr>
          </a:p>
          <a:p>
            <a:pPr>
              <a:lnSpc>
                <a:spcPct val="200000"/>
              </a:lnSpc>
            </a:pPr>
            <a:r>
              <a:rPr lang="en-US" altLang="ko-KR" b="1" dirty="0">
                <a:solidFill>
                  <a:srgbClr val="212529"/>
                </a:solidFill>
                <a:latin typeface="+mj-lt"/>
              </a:rPr>
              <a:t>2.</a:t>
            </a:r>
            <a:r>
              <a:rPr lang="ko-KR" altLang="en-US" b="1" dirty="0">
                <a:solidFill>
                  <a:srgbClr val="212529"/>
                </a:solidFill>
                <a:latin typeface="+mj-lt"/>
              </a:rPr>
              <a:t> 두번째 코드</a:t>
            </a:r>
            <a:r>
              <a:rPr lang="en-US" altLang="ko-KR" b="1" dirty="0">
                <a:solidFill>
                  <a:srgbClr val="212529"/>
                </a:solidFill>
                <a:latin typeface="+mj-lt"/>
              </a:rPr>
              <a:t>:</a:t>
            </a:r>
            <a:r>
              <a:rPr lang="ko-KR" altLang="en-US" b="1" dirty="0">
                <a:solidFill>
                  <a:srgbClr val="212529"/>
                </a:solidFill>
                <a:latin typeface="+mj-lt"/>
              </a:rPr>
              <a:t> </a:t>
            </a:r>
            <a:r>
              <a:rPr lang="en" altLang="ko-Kore-GB" dirty="0">
                <a:solidFill>
                  <a:srgbClr val="000000"/>
                </a:solidFill>
                <a:effectLst/>
                <a:latin typeface="Helvetica Neue" panose="02000503000000020004" pitchFamily="2" charset="0"/>
                <a:hlinkClick r:id="rId6"/>
              </a:rPr>
              <a:t>Approaching (Almost) Any NLP Problem on Kaggle</a:t>
            </a:r>
            <a:endParaRPr lang="en-US" altLang="ko-KR" b="1" dirty="0">
              <a:solidFill>
                <a:srgbClr val="212529"/>
              </a:solidFill>
              <a:latin typeface="+mj-lt"/>
            </a:endParaRPr>
          </a:p>
          <a:p>
            <a:pPr>
              <a:lnSpc>
                <a:spcPct val="200000"/>
              </a:lnSpc>
            </a:pPr>
            <a:r>
              <a:rPr lang="ko-KR" altLang="en-US" sz="1400" b="1" i="0" dirty="0">
                <a:solidFill>
                  <a:srgbClr val="212529"/>
                </a:solidFill>
                <a:effectLst/>
                <a:latin typeface="+mj-lt"/>
              </a:rPr>
              <a:t>새로 배운 내용들</a:t>
            </a:r>
            <a:r>
              <a:rPr lang="en-US" altLang="ko-KR" sz="1400" b="1" i="0" dirty="0">
                <a:solidFill>
                  <a:srgbClr val="212529"/>
                </a:solidFill>
                <a:effectLst/>
                <a:latin typeface="+mj-lt"/>
              </a:rPr>
              <a:t>+</a:t>
            </a:r>
            <a:r>
              <a:rPr lang="ko-KR" altLang="en-US" sz="1400" b="1" i="0" dirty="0">
                <a:solidFill>
                  <a:srgbClr val="212529"/>
                </a:solidFill>
                <a:effectLst/>
                <a:latin typeface="+mj-lt"/>
              </a:rPr>
              <a:t> 스터디 시간에 논의한 내용들 중심으로  </a:t>
            </a:r>
            <a:endParaRPr lang="en" altLang="ko-Kore-GB" sz="1400" b="1" i="0" dirty="0">
              <a:solidFill>
                <a:srgbClr val="212529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94913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1599250" y="1262100"/>
            <a:ext cx="4287600" cy="3414600"/>
          </a:xfrm>
          <a:prstGeom prst="rect">
            <a:avLst/>
          </a:prstGeom>
          <a:solidFill>
            <a:srgbClr val="EFEFEF"/>
          </a:solidFill>
          <a:ln w="38100" cap="flat" cmpd="sng">
            <a:solidFill>
              <a:srgbClr val="1926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 dirty="0">
                <a:solidFill>
                  <a:srgbClr val="19264B"/>
                </a:solidFill>
                <a:latin typeface="+mj-ea"/>
                <a:ea typeface="+mj-ea"/>
                <a:cs typeface="NanumGothic ExtraBold"/>
                <a:sym typeface="NanumGothic ExtraBold"/>
              </a:rPr>
              <a:t>스터디원 소개 및 만남 인증</a:t>
            </a:r>
            <a:endParaRPr sz="2000" b="1" dirty="0">
              <a:solidFill>
                <a:srgbClr val="19264B"/>
              </a:solidFill>
              <a:latin typeface="+mj-ea"/>
              <a:ea typeface="+mj-ea"/>
              <a:cs typeface="NanumGothic ExtraBold"/>
              <a:sym typeface="NanumGothic ExtraBol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6091643" y="1584420"/>
            <a:ext cx="2714478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 dirty="0">
                <a:latin typeface="+mj-ea"/>
                <a:ea typeface="+mj-ea"/>
              </a:rPr>
              <a:t>스터디원 1 : </a:t>
            </a:r>
            <a:r>
              <a:rPr lang="ko" altLang="en-US" b="1" dirty="0">
                <a:latin typeface="+mj-ea"/>
                <a:ea typeface="+mj-ea"/>
              </a:rPr>
              <a:t>나영은</a:t>
            </a:r>
            <a:endParaRPr b="1" dirty="0">
              <a:latin typeface="+mj-ea"/>
              <a:ea typeface="+mj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latin typeface="+mj-ea"/>
              <a:ea typeface="+mj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 dirty="0">
                <a:latin typeface="+mj-ea"/>
                <a:ea typeface="+mj-ea"/>
              </a:rPr>
              <a:t>스터디원 2 :</a:t>
            </a:r>
            <a:r>
              <a:rPr lang="ko" altLang="en-US" b="1" dirty="0">
                <a:latin typeface="+mj-ea"/>
                <a:ea typeface="+mj-ea"/>
              </a:rPr>
              <a:t> 이혜원</a:t>
            </a:r>
            <a:endParaRPr b="1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1EFF0D-EA4C-0A41-B652-102E14701975}"/>
              </a:ext>
            </a:extLst>
          </p:cNvPr>
          <p:cNvSpPr txBox="1"/>
          <p:nvPr/>
        </p:nvSpPr>
        <p:spPr>
          <a:xfrm>
            <a:off x="1816375" y="2700338"/>
            <a:ext cx="38414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1" dirty="0"/>
              <a:t>매주 수요일 </a:t>
            </a:r>
            <a:r>
              <a:rPr lang="en-US" altLang="ko-KR" b="1" dirty="0"/>
              <a:t>11</a:t>
            </a:r>
            <a:r>
              <a:rPr lang="ko-KR" altLang="en-US" b="1" dirty="0"/>
              <a:t>시 비대면 및 대면으로 진행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1408975" y="306875"/>
            <a:ext cx="7562150" cy="68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" altLang="ko-Kore-GB" sz="2800" b="1" i="0" dirty="0">
                <a:solidFill>
                  <a:srgbClr val="212529"/>
                </a:solidFill>
                <a:effectLst/>
                <a:latin typeface="+mj-lt"/>
              </a:rPr>
              <a:t>Spooky Author Identification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4F4A29-B06D-5543-9C95-022B9724AC09}"/>
              </a:ext>
            </a:extLst>
          </p:cNvPr>
          <p:cNvSpPr txBox="1"/>
          <p:nvPr/>
        </p:nvSpPr>
        <p:spPr>
          <a:xfrm>
            <a:off x="1515412" y="1055550"/>
            <a:ext cx="7349275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b="1" i="0" dirty="0">
                <a:solidFill>
                  <a:srgbClr val="212529"/>
                </a:solidFill>
                <a:effectLst/>
                <a:latin typeface="+mj-ea"/>
                <a:ea typeface="+mj-ea"/>
              </a:rPr>
              <a:t>[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+mj-ea"/>
                <a:ea typeface="+mj-ea"/>
              </a:rPr>
              <a:t>대회 핵심 내용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+mj-ea"/>
                <a:ea typeface="+mj-ea"/>
              </a:rPr>
              <a:t>]</a:t>
            </a:r>
          </a:p>
          <a:p>
            <a:pPr algn="just"/>
            <a:endParaRPr lang="en-US" altLang="ko-KR" b="1" i="0" dirty="0">
              <a:solidFill>
                <a:srgbClr val="212529"/>
              </a:solidFill>
              <a:effectLst/>
              <a:latin typeface="+mj-ea"/>
              <a:ea typeface="+mj-ea"/>
            </a:endParaRPr>
          </a:p>
          <a:p>
            <a:pPr marL="285750" indent="-285750" algn="just">
              <a:buFontTx/>
              <a:buChar char="-"/>
            </a:pPr>
            <a:r>
              <a:rPr lang="ko-KR" altLang="en-US" b="1" i="0" dirty="0">
                <a:solidFill>
                  <a:srgbClr val="212529"/>
                </a:solidFill>
                <a:effectLst/>
                <a:latin typeface="+mj-ea"/>
                <a:ea typeface="+mj-ea"/>
              </a:rPr>
              <a:t>목표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+mj-ea"/>
                <a:ea typeface="+mj-ea"/>
              </a:rPr>
              <a:t>: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+mj-ea"/>
                <a:ea typeface="+mj-ea"/>
              </a:rPr>
              <a:t>주어진 문장이 포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+mj-ea"/>
                <a:ea typeface="+mj-ea"/>
              </a:rPr>
              <a:t>, </a:t>
            </a:r>
            <a:r>
              <a:rPr lang="ko-KR" altLang="en-US" b="0" i="0" dirty="0" err="1">
                <a:solidFill>
                  <a:srgbClr val="212529"/>
                </a:solidFill>
                <a:effectLst/>
                <a:latin typeface="+mj-ea"/>
                <a:ea typeface="+mj-ea"/>
              </a:rPr>
              <a:t>셸리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+mj-ea"/>
                <a:ea typeface="+mj-ea"/>
              </a:rPr>
              <a:t>,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+mj-ea"/>
                <a:ea typeface="+mj-ea"/>
              </a:rPr>
              <a:t>러브크래프트 중 누구의 작품인지 예측하는 모델 구축</a:t>
            </a:r>
            <a:endParaRPr lang="en-US" altLang="ko-KR" b="0" i="0" dirty="0">
              <a:solidFill>
                <a:srgbClr val="212529"/>
              </a:solidFill>
              <a:effectLst/>
              <a:latin typeface="+mj-ea"/>
              <a:ea typeface="+mj-ea"/>
            </a:endParaRPr>
          </a:p>
          <a:p>
            <a:pPr algn="just"/>
            <a:r>
              <a:rPr lang="ko-KR" altLang="en-US" b="0" i="0" dirty="0">
                <a:solidFill>
                  <a:srgbClr val="212529"/>
                </a:solidFill>
                <a:effectLst/>
                <a:latin typeface="+mj-ea"/>
                <a:ea typeface="+mj-ea"/>
              </a:rPr>
              <a:t> </a:t>
            </a:r>
            <a:endParaRPr lang="en-US" altLang="ko-KR" b="0" i="0" dirty="0">
              <a:solidFill>
                <a:srgbClr val="212529"/>
              </a:solidFill>
              <a:effectLst/>
              <a:latin typeface="+mj-ea"/>
              <a:ea typeface="+mj-ea"/>
            </a:endParaRPr>
          </a:p>
          <a:p>
            <a:pPr marL="285750" indent="-285750" algn="just">
              <a:buFontTx/>
              <a:buChar char="-"/>
            </a:pPr>
            <a:r>
              <a:rPr lang="ko-KR" altLang="en-US" b="1" i="0" dirty="0" err="1">
                <a:solidFill>
                  <a:srgbClr val="212529"/>
                </a:solidFill>
                <a:effectLst/>
                <a:latin typeface="+mj-ea"/>
                <a:ea typeface="+mj-ea"/>
              </a:rPr>
              <a:t>데이터셋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+mj-ea"/>
                <a:ea typeface="+mj-ea"/>
              </a:rPr>
              <a:t>:</a:t>
            </a:r>
          </a:p>
          <a:p>
            <a:pPr marL="285750" indent="-285750" algn="just">
              <a:buFontTx/>
              <a:buChar char="-"/>
            </a:pPr>
            <a:r>
              <a:rPr lang="en" altLang="ko-Kore-GB" b="0" i="0" dirty="0" err="1">
                <a:solidFill>
                  <a:srgbClr val="212529"/>
                </a:solidFill>
                <a:effectLst/>
                <a:latin typeface="+mj-ea"/>
                <a:ea typeface="+mj-ea"/>
              </a:rPr>
              <a:t>Train.csv</a:t>
            </a:r>
            <a:r>
              <a:rPr lang="en" altLang="ko-Kore-GB" b="0" i="0" dirty="0">
                <a:solidFill>
                  <a:srgbClr val="212529"/>
                </a:solidFill>
                <a:effectLst/>
                <a:latin typeface="+mj-ea"/>
                <a:ea typeface="+mj-ea"/>
              </a:rPr>
              <a:t>: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+mj-ea"/>
                <a:ea typeface="+mj-ea"/>
              </a:rPr>
              <a:t>각 문장과 해당 저자 레이블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+mj-ea"/>
                <a:ea typeface="+mj-ea"/>
              </a:rPr>
              <a:t>(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+mj-ea"/>
                <a:ea typeface="+mj-ea"/>
              </a:rPr>
              <a:t>포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+mj-ea"/>
                <a:ea typeface="+mj-ea"/>
              </a:rPr>
              <a:t>, </a:t>
            </a:r>
            <a:r>
              <a:rPr lang="ko-KR" altLang="en-US" b="0" i="0" dirty="0" err="1">
                <a:solidFill>
                  <a:srgbClr val="212529"/>
                </a:solidFill>
                <a:effectLst/>
                <a:latin typeface="+mj-ea"/>
                <a:ea typeface="+mj-ea"/>
              </a:rPr>
              <a:t>셸리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+mj-ea"/>
                <a:ea typeface="+mj-ea"/>
              </a:rPr>
              <a:t>,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+mj-ea"/>
                <a:ea typeface="+mj-ea"/>
              </a:rPr>
              <a:t>러브크래프트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+mj-ea"/>
                <a:ea typeface="+mj-ea"/>
              </a:rPr>
              <a:t>)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+mj-ea"/>
                <a:ea typeface="+mj-ea"/>
              </a:rPr>
              <a:t>이 포함된 훈련 데이터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+mj-ea"/>
                <a:ea typeface="+mj-ea"/>
              </a:rPr>
              <a:t>.</a:t>
            </a:r>
          </a:p>
          <a:p>
            <a:pPr marL="285750" indent="-285750" algn="just">
              <a:buFontTx/>
              <a:buChar char="-"/>
            </a:pPr>
            <a:r>
              <a:rPr lang="en" altLang="ko-Kore-GB" b="0" i="0" dirty="0" err="1">
                <a:solidFill>
                  <a:srgbClr val="212529"/>
                </a:solidFill>
                <a:effectLst/>
                <a:latin typeface="+mj-ea"/>
                <a:ea typeface="+mj-ea"/>
              </a:rPr>
              <a:t>Test.csv</a:t>
            </a:r>
            <a:r>
              <a:rPr lang="en" altLang="ko-Kore-GB" b="0" i="0" dirty="0">
                <a:solidFill>
                  <a:srgbClr val="212529"/>
                </a:solidFill>
                <a:effectLst/>
                <a:latin typeface="+mj-ea"/>
                <a:ea typeface="+mj-ea"/>
              </a:rPr>
              <a:t>: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+mj-ea"/>
                <a:ea typeface="+mj-ea"/>
              </a:rPr>
              <a:t>레이블이 없는 테스트 데이터로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+mj-ea"/>
                <a:ea typeface="+mj-ea"/>
              </a:rPr>
              <a:t>,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+mj-ea"/>
                <a:ea typeface="+mj-ea"/>
              </a:rPr>
              <a:t>참가자가 예측을 수행해야 하는 문장들로 구성</a:t>
            </a:r>
            <a:endParaRPr lang="en-US" altLang="ko-KR" b="0" i="0" dirty="0">
              <a:solidFill>
                <a:srgbClr val="212529"/>
              </a:solidFill>
              <a:effectLst/>
              <a:latin typeface="+mj-ea"/>
              <a:ea typeface="+mj-ea"/>
            </a:endParaRPr>
          </a:p>
          <a:p>
            <a:pPr marL="285750" indent="-285750" algn="just">
              <a:buFontTx/>
              <a:buChar char="-"/>
            </a:pPr>
            <a:endParaRPr lang="en-US" altLang="ko-KR" b="0" i="0" dirty="0">
              <a:solidFill>
                <a:srgbClr val="212529"/>
              </a:solidFill>
              <a:effectLst/>
              <a:latin typeface="+mj-ea"/>
              <a:ea typeface="+mj-ea"/>
            </a:endParaRPr>
          </a:p>
          <a:p>
            <a:pPr marL="285750" indent="-285750" algn="just">
              <a:buFontTx/>
              <a:buChar char="-"/>
            </a:pPr>
            <a:r>
              <a:rPr lang="ko-KR" altLang="en-US" b="1" i="0" dirty="0">
                <a:solidFill>
                  <a:srgbClr val="212529"/>
                </a:solidFill>
                <a:effectLst/>
                <a:latin typeface="+mj-ea"/>
                <a:ea typeface="+mj-ea"/>
              </a:rPr>
              <a:t>평가 방법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+mj-ea"/>
                <a:ea typeface="+mj-ea"/>
              </a:rPr>
              <a:t>: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+mj-ea"/>
                <a:ea typeface="+mj-ea"/>
              </a:rPr>
              <a:t>예측 확률 분포를 정확하게 캡처할수록 좋은 성능을 얻는 </a:t>
            </a:r>
            <a:r>
              <a:rPr lang="en" altLang="ko-Kore-GB" b="0" i="0" dirty="0">
                <a:solidFill>
                  <a:srgbClr val="212529"/>
                </a:solidFill>
                <a:effectLst/>
                <a:latin typeface="+mj-ea"/>
                <a:ea typeface="+mj-ea"/>
              </a:rPr>
              <a:t>multi-class logarithmic loss</a:t>
            </a:r>
            <a:r>
              <a:rPr lang="ko-KR" altLang="en-US" dirty="0">
                <a:solidFill>
                  <a:srgbClr val="212529"/>
                </a:solidFill>
                <a:latin typeface="+mj-ea"/>
                <a:ea typeface="+mj-ea"/>
              </a:rPr>
              <a:t>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+mj-ea"/>
                <a:ea typeface="+mj-ea"/>
              </a:rPr>
              <a:t>지표로 평가 </a:t>
            </a:r>
            <a:endParaRPr lang="en-US" altLang="ko-KR" b="0" i="0" dirty="0">
              <a:solidFill>
                <a:srgbClr val="212529"/>
              </a:solidFill>
              <a:effectLst/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1408974" y="306875"/>
            <a:ext cx="7735026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l" fontAlgn="base"/>
            <a:r>
              <a:rPr lang="en-US" altLang="ko-KR" sz="2800" b="1" i="0" dirty="0">
                <a:solidFill>
                  <a:srgbClr val="202124"/>
                </a:solidFill>
                <a:effectLst/>
                <a:latin typeface="+mj-lt"/>
              </a:rPr>
              <a:t>1.</a:t>
            </a:r>
            <a:r>
              <a:rPr lang="ko-KR" altLang="en-US" sz="2800" b="1" i="0" dirty="0">
                <a:solidFill>
                  <a:srgbClr val="202124"/>
                </a:solidFill>
                <a:effectLst/>
                <a:latin typeface="+mj-lt"/>
              </a:rPr>
              <a:t> </a:t>
            </a:r>
            <a:r>
              <a:rPr lang="en" altLang="ko-Kore-GB" sz="2800" b="1" i="0" dirty="0">
                <a:solidFill>
                  <a:srgbClr val="202124"/>
                </a:solidFill>
                <a:effectLst/>
                <a:latin typeface="+mj-lt"/>
              </a:rPr>
              <a:t>Spooky NLP and Topic Modelling tutorial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4F4A29-B06D-5543-9C95-022B9724AC09}"/>
              </a:ext>
            </a:extLst>
          </p:cNvPr>
          <p:cNvSpPr txBox="1"/>
          <p:nvPr/>
        </p:nvSpPr>
        <p:spPr>
          <a:xfrm>
            <a:off x="1453828" y="1230175"/>
            <a:ext cx="734927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AutoNum type="alphaLcPeriod"/>
            </a:pPr>
            <a:r>
              <a:rPr lang="en" altLang="ko-Kore-GB" b="1" dirty="0">
                <a:solidFill>
                  <a:srgbClr val="202214"/>
                </a:solidFill>
                <a:latin typeface="+mj-ea"/>
                <a:ea typeface="+mj-ea"/>
              </a:rPr>
              <a:t>Tokenization</a:t>
            </a:r>
          </a:p>
          <a:p>
            <a:pPr marL="342900" indent="-342900" algn="just">
              <a:buAutoNum type="alphaLcPeriod"/>
            </a:pPr>
            <a:endParaRPr lang="en" altLang="ko-Kore-GB" b="1" dirty="0">
              <a:solidFill>
                <a:srgbClr val="202214"/>
              </a:solidFill>
              <a:latin typeface="+mj-ea"/>
              <a:ea typeface="+mj-ea"/>
            </a:endParaRPr>
          </a:p>
          <a:p>
            <a:pPr marL="342900" indent="-342900" algn="just">
              <a:buAutoNum type="alphaLcPeriod"/>
            </a:pPr>
            <a:r>
              <a:rPr lang="en" altLang="ko-Kore-GB" b="1" dirty="0" err="1">
                <a:solidFill>
                  <a:srgbClr val="202214"/>
                </a:solidFill>
                <a:latin typeface="+mj-ea"/>
                <a:ea typeface="+mj-ea"/>
              </a:rPr>
              <a:t>Stopword</a:t>
            </a:r>
            <a:r>
              <a:rPr lang="en" altLang="ko-Kore-GB" b="1" dirty="0">
                <a:solidFill>
                  <a:srgbClr val="202214"/>
                </a:solidFill>
                <a:latin typeface="+mj-ea"/>
                <a:ea typeface="+mj-ea"/>
              </a:rPr>
              <a:t> Removal</a:t>
            </a:r>
            <a:r>
              <a:rPr lang="ko-KR" altLang="en-US" b="1" dirty="0">
                <a:solidFill>
                  <a:srgbClr val="202214"/>
                </a:solidFill>
                <a:latin typeface="+mj-ea"/>
                <a:ea typeface="+mj-ea"/>
              </a:rPr>
              <a:t> </a:t>
            </a:r>
            <a:endParaRPr lang="en-US" altLang="ko-KR" b="1" dirty="0">
              <a:solidFill>
                <a:srgbClr val="202214"/>
              </a:solidFill>
              <a:latin typeface="+mj-ea"/>
              <a:ea typeface="+mj-ea"/>
            </a:endParaRPr>
          </a:p>
          <a:p>
            <a:pPr algn="just"/>
            <a:endParaRPr lang="en" altLang="ko-Kore-GB" b="1" dirty="0">
              <a:solidFill>
                <a:srgbClr val="202214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629A3E-8887-AF41-BFB6-A3764624DA68}"/>
              </a:ext>
            </a:extLst>
          </p:cNvPr>
          <p:cNvSpPr txBox="1"/>
          <p:nvPr/>
        </p:nvSpPr>
        <p:spPr>
          <a:xfrm>
            <a:off x="1408974" y="93308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b="1" dirty="0">
                <a:solidFill>
                  <a:srgbClr val="202214"/>
                </a:solidFill>
                <a:latin typeface="+mj-ea"/>
                <a:ea typeface="+mj-ea"/>
              </a:rPr>
              <a:t>-&gt;</a:t>
            </a:r>
            <a:r>
              <a:rPr lang="ko-KR" altLang="en-US" b="1" dirty="0">
                <a:solidFill>
                  <a:srgbClr val="202214"/>
                </a:solidFill>
                <a:latin typeface="+mj-ea"/>
                <a:ea typeface="+mj-ea"/>
              </a:rPr>
              <a:t> </a:t>
            </a:r>
            <a:r>
              <a:rPr lang="en-US" altLang="ko-KR" b="1" dirty="0">
                <a:solidFill>
                  <a:srgbClr val="202214"/>
                </a:solidFill>
                <a:latin typeface="+mj-ea"/>
                <a:ea typeface="+mj-ea"/>
              </a:rPr>
              <a:t>NLTK </a:t>
            </a:r>
            <a:r>
              <a:rPr lang="ko-KR" altLang="en-US" b="1" dirty="0">
                <a:solidFill>
                  <a:srgbClr val="202214"/>
                </a:solidFill>
                <a:latin typeface="+mj-ea"/>
                <a:ea typeface="+mj-ea"/>
              </a:rPr>
              <a:t>로 </a:t>
            </a:r>
            <a:r>
              <a:rPr lang="ko-KR" altLang="en-US" b="1" dirty="0" err="1">
                <a:solidFill>
                  <a:srgbClr val="202214"/>
                </a:solidFill>
                <a:latin typeface="+mj-ea"/>
                <a:ea typeface="+mj-ea"/>
              </a:rPr>
              <a:t>토큰화</a:t>
            </a:r>
            <a:r>
              <a:rPr lang="ko-KR" altLang="en-US" b="1" dirty="0">
                <a:solidFill>
                  <a:srgbClr val="202214"/>
                </a:solidFill>
                <a:latin typeface="+mj-ea"/>
                <a:ea typeface="+mj-ea"/>
              </a:rPr>
              <a:t> 및 </a:t>
            </a:r>
            <a:r>
              <a:rPr lang="ko-KR" altLang="en-US" b="1" dirty="0" err="1">
                <a:solidFill>
                  <a:srgbClr val="202214"/>
                </a:solidFill>
                <a:latin typeface="+mj-ea"/>
                <a:ea typeface="+mj-ea"/>
              </a:rPr>
              <a:t>불용어</a:t>
            </a:r>
            <a:r>
              <a:rPr lang="ko-KR" altLang="en-US" b="1" dirty="0">
                <a:solidFill>
                  <a:srgbClr val="202214"/>
                </a:solidFill>
                <a:latin typeface="+mj-ea"/>
                <a:ea typeface="+mj-ea"/>
              </a:rPr>
              <a:t> 제거 </a:t>
            </a:r>
            <a:endParaRPr lang="en" altLang="ko-Kore-GB" b="1" dirty="0">
              <a:solidFill>
                <a:srgbClr val="202214"/>
              </a:solidFill>
              <a:latin typeface="+mj-ea"/>
              <a:ea typeface="+mj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4744967-0070-C04E-BF64-40B71444649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0382" t="36413" r="9708" b="30406"/>
          <a:stretch/>
        </p:blipFill>
        <p:spPr>
          <a:xfrm>
            <a:off x="4672945" y="1240856"/>
            <a:ext cx="4298180" cy="298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000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1408974" y="306875"/>
            <a:ext cx="7735026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l" fontAlgn="base"/>
            <a:r>
              <a:rPr lang="en-US" altLang="ko-KR" sz="2800" b="1" i="0" dirty="0">
                <a:solidFill>
                  <a:srgbClr val="202124"/>
                </a:solidFill>
                <a:effectLst/>
                <a:latin typeface="+mj-lt"/>
              </a:rPr>
              <a:t>1.</a:t>
            </a:r>
            <a:r>
              <a:rPr lang="ko-KR" altLang="en-US" sz="2800" b="1" i="0" dirty="0">
                <a:solidFill>
                  <a:srgbClr val="202124"/>
                </a:solidFill>
                <a:effectLst/>
                <a:latin typeface="+mj-lt"/>
              </a:rPr>
              <a:t> </a:t>
            </a:r>
            <a:r>
              <a:rPr lang="en" altLang="ko-Kore-GB" sz="2800" b="1" i="0" dirty="0">
                <a:solidFill>
                  <a:srgbClr val="202124"/>
                </a:solidFill>
                <a:effectLst/>
                <a:latin typeface="+mj-lt"/>
              </a:rPr>
              <a:t>Spooky NLP and Topic Modelling tutorial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4F4A29-B06D-5543-9C95-022B9724AC09}"/>
              </a:ext>
            </a:extLst>
          </p:cNvPr>
          <p:cNvSpPr txBox="1"/>
          <p:nvPr/>
        </p:nvSpPr>
        <p:spPr>
          <a:xfrm>
            <a:off x="1408974" y="1055550"/>
            <a:ext cx="734927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AutoNum type="alphaLcPeriod" startAt="3"/>
            </a:pPr>
            <a:r>
              <a:rPr lang="en" altLang="ko-Kore-GB" b="1" dirty="0">
                <a:solidFill>
                  <a:srgbClr val="202214"/>
                </a:solidFill>
                <a:latin typeface="+mj-ea"/>
                <a:ea typeface="+mj-ea"/>
              </a:rPr>
              <a:t>Stemming </a:t>
            </a:r>
            <a:r>
              <a:rPr lang="ko-KR" altLang="en-US" b="1" dirty="0">
                <a:solidFill>
                  <a:srgbClr val="202214"/>
                </a:solidFill>
                <a:latin typeface="+mj-ea"/>
                <a:ea typeface="+mj-ea"/>
              </a:rPr>
              <a:t>어간 추출</a:t>
            </a:r>
            <a:endParaRPr lang="en-US" altLang="ko-KR" b="1" dirty="0">
              <a:solidFill>
                <a:srgbClr val="202214"/>
              </a:solidFill>
              <a:latin typeface="+mj-ea"/>
              <a:ea typeface="+mj-ea"/>
            </a:endParaRPr>
          </a:p>
          <a:p>
            <a:pPr algn="just"/>
            <a:r>
              <a:rPr lang="en-US" altLang="ko-KR" b="1" dirty="0">
                <a:solidFill>
                  <a:srgbClr val="202214"/>
                </a:solidFill>
                <a:latin typeface="+mj-ea"/>
                <a:ea typeface="+mj-ea"/>
              </a:rPr>
              <a:t>(</a:t>
            </a:r>
            <a:r>
              <a:rPr lang="en" altLang="ko-Kore-GB" b="1" i="0" dirty="0">
                <a:solidFill>
                  <a:srgbClr val="212529"/>
                </a:solidFill>
                <a:effectLst/>
                <a:latin typeface="-apple-system"/>
              </a:rPr>
              <a:t>NLTK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-apple-system"/>
              </a:rPr>
              <a:t>의 </a:t>
            </a:r>
            <a:r>
              <a:rPr lang="en" altLang="ko-Kore-GB" b="1" dirty="0" err="1"/>
              <a:t>PorterStemmer</a:t>
            </a:r>
            <a:r>
              <a:rPr lang="en-US" altLang="ko-KR" b="1" dirty="0">
                <a:solidFill>
                  <a:srgbClr val="202214"/>
                </a:solidFill>
                <a:latin typeface="+mj-ea"/>
                <a:ea typeface="+mj-ea"/>
              </a:rPr>
              <a:t>)</a:t>
            </a:r>
            <a:r>
              <a:rPr lang="en" altLang="ko-Kore-GB" b="1" dirty="0">
                <a:solidFill>
                  <a:srgbClr val="202214"/>
                </a:solidFill>
                <a:latin typeface="+mj-ea"/>
                <a:ea typeface="+mj-ea"/>
              </a:rPr>
              <a:t> </a:t>
            </a:r>
          </a:p>
          <a:p>
            <a:pPr algn="just"/>
            <a:endParaRPr lang="en" altLang="ko-Kore-GB" b="1" dirty="0">
              <a:solidFill>
                <a:srgbClr val="202214"/>
              </a:solidFill>
              <a:latin typeface="+mj-ea"/>
              <a:ea typeface="+mj-ea"/>
            </a:endParaRPr>
          </a:p>
          <a:p>
            <a:pPr algn="just"/>
            <a:endParaRPr lang="en" altLang="ko-Kore-GB" b="1" dirty="0">
              <a:solidFill>
                <a:srgbClr val="202214"/>
              </a:solidFill>
              <a:latin typeface="+mj-ea"/>
              <a:ea typeface="+mj-ea"/>
            </a:endParaRPr>
          </a:p>
          <a:p>
            <a:pPr algn="just"/>
            <a:endParaRPr lang="en" altLang="ko-Kore-GB" b="1" dirty="0">
              <a:solidFill>
                <a:srgbClr val="202214"/>
              </a:solidFill>
              <a:latin typeface="+mj-ea"/>
              <a:ea typeface="+mj-ea"/>
            </a:endParaRPr>
          </a:p>
          <a:p>
            <a:pPr algn="just"/>
            <a:endParaRPr lang="en" altLang="ko-Kore-GB" b="1" dirty="0">
              <a:solidFill>
                <a:srgbClr val="202214"/>
              </a:solidFill>
              <a:latin typeface="+mj-ea"/>
              <a:ea typeface="+mj-ea"/>
            </a:endParaRPr>
          </a:p>
          <a:p>
            <a:pPr algn="just"/>
            <a:endParaRPr lang="en" altLang="ko-Kore-GB" b="1" dirty="0">
              <a:solidFill>
                <a:srgbClr val="202214"/>
              </a:solidFill>
              <a:latin typeface="+mj-ea"/>
              <a:ea typeface="+mj-ea"/>
            </a:endParaRPr>
          </a:p>
          <a:p>
            <a:pPr algn="just"/>
            <a:endParaRPr lang="en" altLang="ko-Kore-GB" b="1" dirty="0">
              <a:solidFill>
                <a:srgbClr val="202214"/>
              </a:solidFill>
              <a:latin typeface="+mj-ea"/>
              <a:ea typeface="+mj-ea"/>
            </a:endParaRPr>
          </a:p>
          <a:p>
            <a:pPr algn="just"/>
            <a:endParaRPr lang="en" altLang="ko-Kore-GB" b="1" dirty="0">
              <a:solidFill>
                <a:srgbClr val="202214"/>
              </a:solidFill>
              <a:latin typeface="+mj-ea"/>
              <a:ea typeface="+mj-ea"/>
            </a:endParaRPr>
          </a:p>
          <a:p>
            <a:pPr algn="just"/>
            <a:endParaRPr lang="en" altLang="ko-Kore-GB" b="1" dirty="0">
              <a:solidFill>
                <a:srgbClr val="202214"/>
              </a:solidFill>
              <a:latin typeface="+mj-ea"/>
              <a:ea typeface="+mj-ea"/>
            </a:endParaRPr>
          </a:p>
          <a:p>
            <a:pPr algn="just"/>
            <a:endParaRPr lang="en" altLang="ko-Kore-GB" b="1" dirty="0">
              <a:solidFill>
                <a:srgbClr val="202214"/>
              </a:solidFill>
              <a:latin typeface="+mj-ea"/>
              <a:ea typeface="+mj-ea"/>
            </a:endParaRPr>
          </a:p>
          <a:p>
            <a:pPr algn="just"/>
            <a:endParaRPr lang="en" altLang="ko-Kore-GB" b="1" dirty="0">
              <a:solidFill>
                <a:srgbClr val="202214"/>
              </a:solidFill>
              <a:latin typeface="+mj-ea"/>
              <a:ea typeface="+mj-ea"/>
            </a:endParaRPr>
          </a:p>
          <a:p>
            <a:pPr algn="just"/>
            <a:endParaRPr lang="en" altLang="ko-Kore-GB" b="1" dirty="0">
              <a:solidFill>
                <a:srgbClr val="202214"/>
              </a:solidFill>
              <a:latin typeface="+mj-ea"/>
              <a:ea typeface="+mj-ea"/>
            </a:endParaRPr>
          </a:p>
          <a:p>
            <a:pPr algn="just"/>
            <a:endParaRPr lang="en" altLang="ko-Kore-GB" b="1" dirty="0">
              <a:solidFill>
                <a:srgbClr val="202214"/>
              </a:solidFill>
              <a:latin typeface="+mj-ea"/>
              <a:ea typeface="+mj-ea"/>
            </a:endParaRPr>
          </a:p>
          <a:p>
            <a:pPr marL="342900" indent="-342900" algn="just">
              <a:buAutoNum type="alphaLcPeriod" startAt="4"/>
            </a:pPr>
            <a:r>
              <a:rPr lang="en" altLang="ko-Kore-GB" b="1" dirty="0">
                <a:solidFill>
                  <a:srgbClr val="202214"/>
                </a:solidFill>
                <a:latin typeface="+mj-ea"/>
                <a:ea typeface="+mj-ea"/>
              </a:rPr>
              <a:t>Lemmatization</a:t>
            </a:r>
            <a:r>
              <a:rPr lang="ko-KR" altLang="en-US" b="1" dirty="0">
                <a:solidFill>
                  <a:srgbClr val="202214"/>
                </a:solidFill>
                <a:latin typeface="+mj-ea"/>
                <a:ea typeface="+mj-ea"/>
              </a:rPr>
              <a:t> 표제어 추출</a:t>
            </a:r>
            <a:endParaRPr lang="en-US" altLang="ko-KR" b="1" dirty="0">
              <a:solidFill>
                <a:srgbClr val="202214"/>
              </a:solidFill>
              <a:latin typeface="+mj-ea"/>
              <a:ea typeface="+mj-ea"/>
            </a:endParaRPr>
          </a:p>
          <a:p>
            <a:pPr algn="just"/>
            <a:r>
              <a:rPr lang="en-US" altLang="ko-KR" b="1" dirty="0">
                <a:solidFill>
                  <a:srgbClr val="202214"/>
                </a:solidFill>
                <a:latin typeface="+mj-ea"/>
                <a:ea typeface="+mj-ea"/>
              </a:rPr>
              <a:t>(</a:t>
            </a:r>
            <a:r>
              <a:rPr lang="en" altLang="ko-Kore-GB" b="1" i="0" dirty="0">
                <a:solidFill>
                  <a:srgbClr val="212529"/>
                </a:solidFill>
                <a:effectLst/>
                <a:latin typeface="-apple-system"/>
              </a:rPr>
              <a:t>NLTK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-apple-system"/>
              </a:rPr>
              <a:t>의 </a:t>
            </a:r>
            <a:r>
              <a:rPr lang="en" altLang="ko-Kore-GB" b="1" i="0" dirty="0" err="1">
                <a:solidFill>
                  <a:srgbClr val="212529"/>
                </a:solidFill>
                <a:effectLst/>
                <a:latin typeface="-apple-system"/>
              </a:rPr>
              <a:t>WordNetLemmatizer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-apple-system"/>
              </a:rPr>
              <a:t>)</a:t>
            </a:r>
            <a:r>
              <a:rPr lang="ko-KR" altLang="en-US" b="1" dirty="0">
                <a:solidFill>
                  <a:srgbClr val="202214"/>
                </a:solidFill>
                <a:latin typeface="+mj-ea"/>
                <a:ea typeface="+mj-ea"/>
              </a:rPr>
              <a:t> </a:t>
            </a:r>
            <a:endParaRPr lang="en" altLang="ko-Kore-GB" b="1" dirty="0">
              <a:solidFill>
                <a:srgbClr val="202214"/>
              </a:solidFill>
              <a:latin typeface="+mj-ea"/>
              <a:ea typeface="+mj-ea"/>
            </a:endParaRPr>
          </a:p>
        </p:txBody>
      </p:sp>
      <p:pic>
        <p:nvPicPr>
          <p:cNvPr id="3" name="그림 2" descr="텍스트, 소프트웨어, 웹 페이지, 웹사이트이(가) 표시된 사진&#10;&#10;자동 생성된 설명">
            <a:extLst>
              <a:ext uri="{FF2B5EF4-FFF2-40B4-BE49-F238E27FC236}">
                <a16:creationId xmlns:a16="http://schemas.microsoft.com/office/drawing/2014/main" id="{4BA29C95-A76F-0545-AA88-CB6AD63CDC4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3519" t="45333" r="15185" b="48958"/>
          <a:stretch/>
        </p:blipFill>
        <p:spPr>
          <a:xfrm>
            <a:off x="4612243" y="922398"/>
            <a:ext cx="4371426" cy="498376"/>
          </a:xfrm>
          <a:prstGeom prst="rect">
            <a:avLst/>
          </a:prstGeom>
        </p:spPr>
      </p:pic>
      <p:pic>
        <p:nvPicPr>
          <p:cNvPr id="5" name="그림 4" descr="텍스트, 소프트웨어, 웹 페이지, 웹사이트이(가) 표시된 사진&#10;&#10;자동 생성된 설명">
            <a:extLst>
              <a:ext uri="{FF2B5EF4-FFF2-40B4-BE49-F238E27FC236}">
                <a16:creationId xmlns:a16="http://schemas.microsoft.com/office/drawing/2014/main" id="{7E496F88-5F66-3B44-AE1A-AB31495E0FF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4767" t="55951" r="15259" b="29247"/>
          <a:stretch/>
        </p:blipFill>
        <p:spPr>
          <a:xfrm>
            <a:off x="4810545" y="3871672"/>
            <a:ext cx="4120723" cy="1271828"/>
          </a:xfrm>
          <a:prstGeom prst="rect">
            <a:avLst/>
          </a:prstGeom>
        </p:spPr>
      </p:pic>
      <p:pic>
        <p:nvPicPr>
          <p:cNvPr id="11" name="그림 10" descr="텍스트, 소프트웨어, 웹 페이지, 웹사이트이(가) 표시된 사진&#10;&#10;자동 생성된 설명">
            <a:extLst>
              <a:ext uri="{FF2B5EF4-FFF2-40B4-BE49-F238E27FC236}">
                <a16:creationId xmlns:a16="http://schemas.microsoft.com/office/drawing/2014/main" id="{3A4CC8F2-266E-D648-BA7A-27549A6AD55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3519" t="58894" r="15185" b="22952"/>
          <a:stretch/>
        </p:blipFill>
        <p:spPr>
          <a:xfrm>
            <a:off x="4599699" y="1386535"/>
            <a:ext cx="4371426" cy="158479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4F5137A-B04F-F648-BB94-58CC5338A9D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4952" t="64661" r="15815" b="25420"/>
          <a:stretch/>
        </p:blipFill>
        <p:spPr>
          <a:xfrm>
            <a:off x="4810545" y="2883499"/>
            <a:ext cx="3949733" cy="83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854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1408974" y="306875"/>
            <a:ext cx="7735026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l" fontAlgn="base"/>
            <a:r>
              <a:rPr lang="en-US" altLang="ko-KR" sz="2800" b="1" i="0" dirty="0">
                <a:solidFill>
                  <a:srgbClr val="202124"/>
                </a:solidFill>
                <a:effectLst/>
                <a:latin typeface="+mj-lt"/>
              </a:rPr>
              <a:t>1.</a:t>
            </a:r>
            <a:r>
              <a:rPr lang="ko-KR" altLang="en-US" sz="2800" b="1" i="0" dirty="0">
                <a:solidFill>
                  <a:srgbClr val="202124"/>
                </a:solidFill>
                <a:effectLst/>
                <a:latin typeface="+mj-lt"/>
              </a:rPr>
              <a:t> </a:t>
            </a:r>
            <a:r>
              <a:rPr lang="en" altLang="ko-Kore-GB" sz="2800" b="1" i="0" dirty="0">
                <a:solidFill>
                  <a:srgbClr val="202124"/>
                </a:solidFill>
                <a:effectLst/>
                <a:latin typeface="+mj-lt"/>
              </a:rPr>
              <a:t>Spooky NLP and Topic Modelling tutorial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4F4A29-B06D-5543-9C95-022B9724AC09}"/>
              </a:ext>
            </a:extLst>
          </p:cNvPr>
          <p:cNvSpPr txBox="1"/>
          <p:nvPr/>
        </p:nvSpPr>
        <p:spPr>
          <a:xfrm>
            <a:off x="1399165" y="966967"/>
            <a:ext cx="734927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ore-GB" b="1" dirty="0">
                <a:solidFill>
                  <a:srgbClr val="202214"/>
                </a:solidFill>
                <a:latin typeface="+mj-ea"/>
                <a:ea typeface="+mj-ea"/>
              </a:rPr>
              <a:t>e. </a:t>
            </a:r>
            <a:r>
              <a:rPr lang="en" altLang="ko-Kore-GB" b="1" dirty="0">
                <a:solidFill>
                  <a:srgbClr val="202214"/>
                </a:solidFill>
                <a:latin typeface="+mj-ea"/>
                <a:ea typeface="+mj-ea"/>
              </a:rPr>
              <a:t>Vectorizing Raw Text </a:t>
            </a:r>
          </a:p>
          <a:p>
            <a:pPr algn="just"/>
            <a:r>
              <a:rPr lang="en" altLang="ko-Kore-GB" b="1" dirty="0">
                <a:solidFill>
                  <a:srgbClr val="202214"/>
                </a:solidFill>
                <a:latin typeface="+mj-ea"/>
                <a:ea typeface="+mj-ea"/>
              </a:rPr>
              <a:t> The Bag of Words approach</a:t>
            </a:r>
            <a:endParaRPr lang="en-US" altLang="ko-KR" b="1" dirty="0">
              <a:solidFill>
                <a:srgbClr val="202214"/>
              </a:solidFill>
              <a:latin typeface="+mj-ea"/>
              <a:ea typeface="+mj-ea"/>
            </a:endParaRPr>
          </a:p>
          <a:p>
            <a:pPr algn="just"/>
            <a:endParaRPr lang="en" altLang="ko-Kore-GB" b="0" i="0" dirty="0">
              <a:solidFill>
                <a:srgbClr val="202214"/>
              </a:solidFill>
              <a:effectLst/>
              <a:latin typeface="+mj-ea"/>
              <a:ea typeface="+mj-ea"/>
            </a:endParaRPr>
          </a:p>
        </p:txBody>
      </p:sp>
      <p:pic>
        <p:nvPicPr>
          <p:cNvPr id="3" name="그림 2" descr="텍스트, 소프트웨어, 웹 페이지, 웹사이트이(가) 표시된 사진&#10;&#10;자동 생성된 설명">
            <a:extLst>
              <a:ext uri="{FF2B5EF4-FFF2-40B4-BE49-F238E27FC236}">
                <a16:creationId xmlns:a16="http://schemas.microsoft.com/office/drawing/2014/main" id="{3C03E975-4589-3A4A-A57D-7AD091864F6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3657" t="33473" r="15074" b="53486"/>
          <a:stretch/>
        </p:blipFill>
        <p:spPr>
          <a:xfrm>
            <a:off x="4885139" y="828498"/>
            <a:ext cx="4258861" cy="1110153"/>
          </a:xfrm>
          <a:prstGeom prst="rect">
            <a:avLst/>
          </a:prstGeom>
        </p:spPr>
      </p:pic>
      <p:pic>
        <p:nvPicPr>
          <p:cNvPr id="9" name="그림 8" descr="텍스트, 소프트웨어, 웹 페이지, 웹사이트이(가) 표시된 사진&#10;&#10;자동 생성된 설명">
            <a:extLst>
              <a:ext uri="{FF2B5EF4-FFF2-40B4-BE49-F238E27FC236}">
                <a16:creationId xmlns:a16="http://schemas.microsoft.com/office/drawing/2014/main" id="{6C2D09DB-2BBB-6143-8CC1-141A803BCF1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3657" t="74693" r="15074" b="4691"/>
          <a:stretch/>
        </p:blipFill>
        <p:spPr>
          <a:xfrm>
            <a:off x="4889100" y="1960082"/>
            <a:ext cx="4230243" cy="1743238"/>
          </a:xfrm>
          <a:prstGeom prst="rect">
            <a:avLst/>
          </a:prstGeom>
        </p:spPr>
      </p:pic>
      <p:pic>
        <p:nvPicPr>
          <p:cNvPr id="5" name="그림 4" descr="텍스트, 소프트웨어, 웹 페이지, 웹사이트이(가) 표시된 사진&#10;&#10;자동 생성된 설명">
            <a:extLst>
              <a:ext uri="{FF2B5EF4-FFF2-40B4-BE49-F238E27FC236}">
                <a16:creationId xmlns:a16="http://schemas.microsoft.com/office/drawing/2014/main" id="{1C1B579A-EAF5-E24C-91A2-45007AF1D32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3806" t="71023" r="15185" b="19111"/>
          <a:stretch/>
        </p:blipFill>
        <p:spPr>
          <a:xfrm>
            <a:off x="4991629" y="3629486"/>
            <a:ext cx="4127714" cy="820727"/>
          </a:xfrm>
          <a:prstGeom prst="rect">
            <a:avLst/>
          </a:prstGeom>
        </p:spPr>
      </p:pic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E186740A-63B3-984B-992B-B9DEF9E1A3BB}"/>
              </a:ext>
            </a:extLst>
          </p:cNvPr>
          <p:cNvSpPr/>
          <p:nvPr/>
        </p:nvSpPr>
        <p:spPr>
          <a:xfrm>
            <a:off x="5750350" y="1171112"/>
            <a:ext cx="1353093" cy="36576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GB" altLang="en-US"/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506B9710-E142-464D-A397-936A428E5C60}"/>
              </a:ext>
            </a:extLst>
          </p:cNvPr>
          <p:cNvSpPr/>
          <p:nvPr/>
        </p:nvSpPr>
        <p:spPr>
          <a:xfrm>
            <a:off x="5073803" y="3089709"/>
            <a:ext cx="1914137" cy="51834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GB" altLang="en-US"/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659BB936-C48A-9746-91B2-32F196B7C8C1}"/>
              </a:ext>
            </a:extLst>
          </p:cNvPr>
          <p:cNvSpPr/>
          <p:nvPr/>
        </p:nvSpPr>
        <p:spPr>
          <a:xfrm>
            <a:off x="5189307" y="4042611"/>
            <a:ext cx="1028614" cy="1966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GB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CDA925-7AC9-8F42-BF28-E73DEF027581}"/>
              </a:ext>
            </a:extLst>
          </p:cNvPr>
          <p:cNvSpPr txBox="1"/>
          <p:nvPr/>
        </p:nvSpPr>
        <p:spPr>
          <a:xfrm>
            <a:off x="1423830" y="3008143"/>
            <a:ext cx="3414006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" altLang="ko-Kore-GB" sz="12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chemeClr val="tx1"/>
                </a:solidFill>
                <a:latin typeface="+mj-ea"/>
                <a:ea typeface="+mj-ea"/>
              </a:rPr>
              <a:t>희소 행렬 </a:t>
            </a:r>
            <a:r>
              <a:rPr lang="en-US" altLang="ko-KR" sz="1200" b="1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en" altLang="ko-Kore-GB" sz="1200" b="1" dirty="0">
                <a:solidFill>
                  <a:schemeClr val="tx1"/>
                </a:solidFill>
                <a:latin typeface="+mj-ea"/>
                <a:ea typeface="+mj-ea"/>
              </a:rPr>
              <a:t>Sparse Matrix)</a:t>
            </a:r>
            <a:r>
              <a:rPr lang="en-US" altLang="ko-KR" sz="1200" b="1" dirty="0">
                <a:solidFill>
                  <a:schemeClr val="tx1"/>
                </a:solidFill>
                <a:latin typeface="+mj-ea"/>
                <a:ea typeface="+mj-ea"/>
              </a:rPr>
              <a:t>:</a:t>
            </a:r>
            <a:r>
              <a:rPr lang="ko-KR" altLang="en-US" sz="1200" b="1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1200" b="0" i="0" dirty="0">
                <a:solidFill>
                  <a:schemeClr val="tx1"/>
                </a:solidFill>
                <a:effectLst/>
                <a:latin typeface="Noto Sans Demilight"/>
              </a:rPr>
              <a:t> </a:t>
            </a:r>
            <a:endParaRPr lang="en-US" altLang="ko-KR" sz="1200" b="0" i="0" dirty="0">
              <a:solidFill>
                <a:schemeClr val="tx1"/>
              </a:solidFill>
              <a:effectLst/>
              <a:latin typeface="Noto Sans Demilight"/>
            </a:endParaRPr>
          </a:p>
          <a:p>
            <a:pPr algn="just"/>
            <a:r>
              <a:rPr lang="ko-KR" altLang="en-US" sz="1200" b="0" i="0" dirty="0">
                <a:solidFill>
                  <a:schemeClr val="tx1"/>
                </a:solidFill>
                <a:effectLst/>
                <a:latin typeface="Noto Sans Demilight"/>
              </a:rPr>
              <a:t>행렬의 대부분의 값을 </a:t>
            </a:r>
            <a:r>
              <a:rPr lang="en-US" altLang="ko-KR" sz="1200" b="0" i="0" dirty="0">
                <a:solidFill>
                  <a:schemeClr val="tx1"/>
                </a:solidFill>
                <a:effectLst/>
                <a:latin typeface="Noto Sans Demilight"/>
              </a:rPr>
              <a:t>0</a:t>
            </a:r>
            <a:r>
              <a:rPr lang="ko-KR" altLang="en-US" sz="1200" dirty="0">
                <a:solidFill>
                  <a:schemeClr val="tx1"/>
                </a:solidFill>
                <a:latin typeface="Noto Sans Demilight"/>
              </a:rPr>
              <a:t>인</a:t>
            </a:r>
            <a:r>
              <a:rPr lang="ko-KR" altLang="en-US" sz="1200" b="0" i="0" dirty="0">
                <a:solidFill>
                  <a:schemeClr val="tx1"/>
                </a:solidFill>
                <a:effectLst/>
                <a:latin typeface="Noto Sans Demilight"/>
              </a:rPr>
              <a:t> 행렬</a:t>
            </a:r>
            <a:r>
              <a:rPr lang="en-US" altLang="ko-KR" sz="1200" b="0" i="0" dirty="0">
                <a:solidFill>
                  <a:schemeClr val="tx1"/>
                </a:solidFill>
                <a:effectLst/>
                <a:latin typeface="Noto Sans Demilight"/>
              </a:rPr>
              <a:t>,</a:t>
            </a:r>
          </a:p>
          <a:p>
            <a:pPr algn="just"/>
            <a:r>
              <a:rPr lang="en-US" altLang="ko-KR" sz="1200" dirty="0">
                <a:solidFill>
                  <a:schemeClr val="tx1"/>
                </a:solidFill>
              </a:rPr>
              <a:t>0</a:t>
            </a:r>
            <a:r>
              <a:rPr lang="ko-KR" altLang="en-US" sz="1200" dirty="0">
                <a:solidFill>
                  <a:schemeClr val="tx1"/>
                </a:solidFill>
              </a:rPr>
              <a:t>이 아닌 값만 저장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대규모 텍스트 데이터 처리에서 메모리와 계산 속도 면에서 효율적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endParaRPr lang="en" altLang="ko-Kore-GB" sz="12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just"/>
            <a:endParaRPr lang="en" altLang="ko-Kore-GB" sz="1200" b="0" i="0" dirty="0"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85122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1408974" y="306875"/>
            <a:ext cx="7735026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fontAlgn="base"/>
            <a:r>
              <a:rPr lang="en-US" altLang="ko-KR" sz="2800" b="1" i="0" dirty="0">
                <a:solidFill>
                  <a:srgbClr val="202124"/>
                </a:solidFill>
                <a:effectLst/>
                <a:latin typeface="+mj-lt"/>
              </a:rPr>
              <a:t>2.</a:t>
            </a:r>
            <a:r>
              <a:rPr lang="ko-KR" altLang="en-US" sz="2800" b="1" i="0" dirty="0">
                <a:solidFill>
                  <a:srgbClr val="202124"/>
                </a:solidFill>
                <a:effectLst/>
                <a:latin typeface="+mj-lt"/>
              </a:rPr>
              <a:t> </a:t>
            </a:r>
            <a:r>
              <a:rPr lang="en" altLang="ko-Kore-GB" sz="2800" b="1" dirty="0">
                <a:solidFill>
                  <a:srgbClr val="202124"/>
                </a:solidFill>
                <a:latin typeface="+mj-lt"/>
              </a:rPr>
              <a:t>Approaching Any NLP Problem on Kaggle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4F4A29-B06D-5543-9C95-022B9724AC09}"/>
              </a:ext>
            </a:extLst>
          </p:cNvPr>
          <p:cNvSpPr txBox="1"/>
          <p:nvPr/>
        </p:nvSpPr>
        <p:spPr>
          <a:xfrm>
            <a:off x="1408974" y="1055550"/>
            <a:ext cx="73492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dirty="0"/>
              <a:t>1. </a:t>
            </a:r>
            <a:r>
              <a:rPr lang="ko-KR" altLang="en-US" b="1" dirty="0"/>
              <a:t>기본 </a:t>
            </a:r>
            <a:r>
              <a:rPr lang="en" altLang="ko-Kore-GB" b="1" dirty="0"/>
              <a:t>TF-IDF </a:t>
            </a:r>
            <a:r>
              <a:rPr lang="en-US" altLang="ko-KR" b="1" dirty="0"/>
              <a:t>+</a:t>
            </a:r>
            <a:r>
              <a:rPr lang="ko-KR" altLang="en-US" b="1" dirty="0"/>
              <a:t>  </a:t>
            </a:r>
            <a:r>
              <a:rPr lang="ko-KR" altLang="en-US" b="1" dirty="0" err="1"/>
              <a:t>로지스틱</a:t>
            </a:r>
            <a:r>
              <a:rPr lang="ko-KR" altLang="en-US" b="1" dirty="0"/>
              <a:t> 회귀 모델</a:t>
            </a:r>
            <a:endParaRPr lang="en" altLang="ko-Kore-GB" b="0" i="0" dirty="0">
              <a:solidFill>
                <a:srgbClr val="202214"/>
              </a:solidFill>
              <a:effectLst/>
              <a:latin typeface="Inter"/>
            </a:endParaRPr>
          </a:p>
          <a:p>
            <a:pPr algn="just"/>
            <a:endParaRPr lang="en" altLang="ko-Kore-GB" b="0" i="0" dirty="0">
              <a:solidFill>
                <a:srgbClr val="202214"/>
              </a:solidFill>
              <a:effectLst/>
              <a:latin typeface="+mj-ea"/>
              <a:ea typeface="+mj-ea"/>
            </a:endParaRPr>
          </a:p>
        </p:txBody>
      </p:sp>
      <p:pic>
        <p:nvPicPr>
          <p:cNvPr id="3" name="그림 2" descr="텍스트, 스크린샷, 소프트웨어, 웹 페이지이(가) 표시된 사진&#10;&#10;자동 생성된 설명">
            <a:extLst>
              <a:ext uri="{FF2B5EF4-FFF2-40B4-BE49-F238E27FC236}">
                <a16:creationId xmlns:a16="http://schemas.microsoft.com/office/drawing/2014/main" id="{5FAC2A6E-8C7F-7649-8760-D460614B2F2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9956" t="41627" r="20129" b="17359"/>
          <a:stretch/>
        </p:blipFill>
        <p:spPr>
          <a:xfrm>
            <a:off x="1688708" y="1320624"/>
            <a:ext cx="4344180" cy="3722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930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1408974" y="306875"/>
            <a:ext cx="7735026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fontAlgn="base"/>
            <a:r>
              <a:rPr lang="en-US" altLang="ko-KR" sz="2800" b="1" i="0" dirty="0">
                <a:solidFill>
                  <a:srgbClr val="202124"/>
                </a:solidFill>
                <a:effectLst/>
                <a:latin typeface="+mj-lt"/>
              </a:rPr>
              <a:t>2.</a:t>
            </a:r>
            <a:r>
              <a:rPr lang="ko-KR" altLang="en-US" sz="2800" b="1" i="0" dirty="0">
                <a:solidFill>
                  <a:srgbClr val="202124"/>
                </a:solidFill>
                <a:effectLst/>
                <a:latin typeface="+mj-lt"/>
              </a:rPr>
              <a:t> </a:t>
            </a:r>
            <a:r>
              <a:rPr lang="en" altLang="ko-Kore-GB" sz="2800" b="1" dirty="0">
                <a:solidFill>
                  <a:srgbClr val="202124"/>
                </a:solidFill>
                <a:latin typeface="+mj-lt"/>
              </a:rPr>
              <a:t>Approaching Any NLP Problem on Kaggle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4F4A29-B06D-5543-9C95-022B9724AC09}"/>
              </a:ext>
            </a:extLst>
          </p:cNvPr>
          <p:cNvSpPr txBox="1"/>
          <p:nvPr/>
        </p:nvSpPr>
        <p:spPr>
          <a:xfrm>
            <a:off x="1408974" y="1055550"/>
            <a:ext cx="73492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b="1" dirty="0"/>
              <a:t>2.</a:t>
            </a:r>
            <a:r>
              <a:rPr lang="ko-KR" altLang="en-US" b="1" dirty="0"/>
              <a:t> 다양한 조합으로 모델 돌려본 결과 </a:t>
            </a:r>
            <a:endParaRPr lang="en" altLang="ko-Kore-GB" b="1" i="0" dirty="0">
              <a:solidFill>
                <a:srgbClr val="202214"/>
              </a:solidFill>
              <a:effectLst/>
              <a:latin typeface="Inter"/>
            </a:endParaRP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6F71093C-B1B7-744E-B00A-07A8BB8892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647061"/>
              </p:ext>
            </p:extLst>
          </p:nvPr>
        </p:nvGraphicFramePr>
        <p:xfrm>
          <a:off x="1567741" y="1396618"/>
          <a:ext cx="4949137" cy="33185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5785">
                  <a:extLst>
                    <a:ext uri="{9D8B030D-6E8A-4147-A177-3AD203B41FA5}">
                      <a16:colId xmlns:a16="http://schemas.microsoft.com/office/drawing/2014/main" val="2880800744"/>
                    </a:ext>
                  </a:extLst>
                </a:gridCol>
                <a:gridCol w="3709679">
                  <a:extLst>
                    <a:ext uri="{9D8B030D-6E8A-4147-A177-3AD203B41FA5}">
                      <a16:colId xmlns:a16="http://schemas.microsoft.com/office/drawing/2014/main" val="3815455136"/>
                    </a:ext>
                  </a:extLst>
                </a:gridCol>
                <a:gridCol w="983673">
                  <a:extLst>
                    <a:ext uri="{9D8B030D-6E8A-4147-A177-3AD203B41FA5}">
                      <a16:colId xmlns:a16="http://schemas.microsoft.com/office/drawing/2014/main" val="1720543816"/>
                    </a:ext>
                  </a:extLst>
                </a:gridCol>
              </a:tblGrid>
              <a:tr h="351790">
                <a:tc>
                  <a:txBody>
                    <a:bodyPr/>
                    <a:lstStyle/>
                    <a:p>
                      <a:endParaRPr lang="ko-Kore-GB" altLang="en-US" sz="14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ore-GB" altLang="en-US" sz="1400" b="1" dirty="0">
                          <a:latin typeface="+mn-lt"/>
                        </a:rPr>
                        <a:t>모델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GB" sz="1400" b="1" dirty="0">
                          <a:latin typeface="+mn-lt"/>
                        </a:rPr>
                        <a:t>L</a:t>
                      </a:r>
                      <a:r>
                        <a:rPr lang="en-US" altLang="ko-KR" sz="1400" b="1" dirty="0">
                          <a:latin typeface="+mn-lt"/>
                        </a:rPr>
                        <a:t>og</a:t>
                      </a:r>
                      <a:r>
                        <a:rPr lang="ko-KR" altLang="en-US" sz="1400" b="1" dirty="0">
                          <a:latin typeface="+mn-lt"/>
                        </a:rPr>
                        <a:t> </a:t>
                      </a:r>
                      <a:r>
                        <a:rPr lang="en-US" altLang="ko-KR" sz="1400" b="1" dirty="0">
                          <a:latin typeface="+mn-lt"/>
                        </a:rPr>
                        <a:t>loss</a:t>
                      </a:r>
                      <a:r>
                        <a:rPr lang="ko-KR" altLang="en-US" sz="1400" b="1" dirty="0">
                          <a:latin typeface="+mn-lt"/>
                        </a:rPr>
                        <a:t> </a:t>
                      </a:r>
                      <a:endParaRPr lang="ko-Kore-GB" altLang="en-US" sz="14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144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ore-GB" sz="1400" b="1" dirty="0">
                          <a:latin typeface="+mn-lt"/>
                        </a:rPr>
                        <a:t>1</a:t>
                      </a:r>
                      <a:endParaRPr lang="ko-Kore-GB" altLang="en-US" sz="14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GB" sz="1400" b="1" dirty="0">
                          <a:latin typeface="+mn-lt"/>
                        </a:rPr>
                        <a:t>TF-IDF + </a:t>
                      </a:r>
                      <a:r>
                        <a:rPr lang="ko-KR" altLang="en-US" sz="1400" b="1" dirty="0" err="1">
                          <a:latin typeface="+mn-lt"/>
                        </a:rPr>
                        <a:t>로지스틱</a:t>
                      </a:r>
                      <a:r>
                        <a:rPr lang="ko-KR" altLang="en-US" sz="1400" b="1" dirty="0">
                          <a:latin typeface="+mn-lt"/>
                        </a:rPr>
                        <a:t> 회귀 </a:t>
                      </a:r>
                      <a:endParaRPr lang="ko-Kore-GB" altLang="en-US" sz="14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GB" dirty="0"/>
                        <a:t>0.626</a:t>
                      </a:r>
                      <a:endParaRPr lang="ko-Kore-GB" altLang="en-US" sz="14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57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ore-GB" sz="1400" b="1" dirty="0">
                          <a:latin typeface="+mn-lt"/>
                        </a:rPr>
                        <a:t>2</a:t>
                      </a:r>
                      <a:endParaRPr lang="ko-Kore-GB" altLang="en-US" sz="14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altLang="ko-Kore-GB" sz="1400" b="1" dirty="0" err="1">
                          <a:latin typeface="+mn-lt"/>
                        </a:rPr>
                        <a:t>CountVectorizer</a:t>
                      </a:r>
                      <a:r>
                        <a:rPr lang="ko-KR" altLang="en-US" sz="1400" b="1" dirty="0">
                          <a:latin typeface="+mn-lt"/>
                        </a:rPr>
                        <a:t> </a:t>
                      </a:r>
                      <a:r>
                        <a:rPr lang="en-US" altLang="ko-KR" sz="1400" b="1" dirty="0">
                          <a:latin typeface="+mn-lt"/>
                        </a:rPr>
                        <a:t>+</a:t>
                      </a:r>
                      <a:r>
                        <a:rPr lang="ko-KR" altLang="en-US" sz="1400" b="1" dirty="0">
                          <a:latin typeface="+mn-lt"/>
                        </a:rPr>
                        <a:t> </a:t>
                      </a:r>
                      <a:r>
                        <a:rPr lang="ko-KR" altLang="en-US" sz="1400" b="1" dirty="0" err="1">
                          <a:latin typeface="+mn-lt"/>
                        </a:rPr>
                        <a:t>로지스틱</a:t>
                      </a:r>
                      <a:r>
                        <a:rPr lang="ko-KR" altLang="en-US" sz="1400" b="1" dirty="0">
                          <a:latin typeface="+mn-lt"/>
                        </a:rPr>
                        <a:t> 회귀</a:t>
                      </a:r>
                      <a:endParaRPr lang="ko-Kore-GB" altLang="en-US" sz="14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GB" dirty="0"/>
                        <a:t>0.528</a:t>
                      </a:r>
                      <a:endParaRPr lang="ko-Kore-GB" altLang="en-US" sz="14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02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ore-GB" sz="1400" b="1" dirty="0">
                          <a:latin typeface="+mn-lt"/>
                        </a:rPr>
                        <a:t>3</a:t>
                      </a:r>
                      <a:endParaRPr lang="ko-Kore-GB" altLang="en-US" sz="14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altLang="ko-Kore-GB" sz="1400" b="1" dirty="0">
                          <a:latin typeface="+mn-lt"/>
                        </a:rPr>
                        <a:t>TF-IDF</a:t>
                      </a:r>
                      <a:r>
                        <a:rPr lang="ko-KR" altLang="en-US" sz="1400" b="1" dirty="0">
                          <a:latin typeface="+mn-lt"/>
                        </a:rPr>
                        <a:t> </a:t>
                      </a:r>
                      <a:r>
                        <a:rPr lang="en-US" altLang="ko-KR" sz="1400" b="1" dirty="0">
                          <a:latin typeface="+mn-lt"/>
                        </a:rPr>
                        <a:t>+</a:t>
                      </a:r>
                      <a:r>
                        <a:rPr lang="ko-KR" altLang="en-US" sz="1400" b="1" dirty="0">
                          <a:latin typeface="+mn-lt"/>
                        </a:rPr>
                        <a:t> </a:t>
                      </a:r>
                      <a:r>
                        <a:rPr lang="ko-KR" altLang="en-US" sz="1400" b="1" dirty="0" err="1">
                          <a:latin typeface="+mn-lt"/>
                        </a:rPr>
                        <a:t>나이브</a:t>
                      </a:r>
                      <a:r>
                        <a:rPr lang="ko-KR" altLang="en-US" sz="1400" b="1" dirty="0">
                          <a:latin typeface="+mn-lt"/>
                        </a:rPr>
                        <a:t> </a:t>
                      </a:r>
                      <a:r>
                        <a:rPr lang="ko-KR" altLang="en-US" sz="1400" b="1" dirty="0" err="1">
                          <a:latin typeface="+mn-lt"/>
                        </a:rPr>
                        <a:t>베이즈</a:t>
                      </a:r>
                      <a:endParaRPr lang="ko-Kore-GB" altLang="en-US" sz="14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GB" dirty="0"/>
                        <a:t>0.578</a:t>
                      </a:r>
                      <a:endParaRPr lang="ko-Kore-GB" altLang="en-US" sz="14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439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ore-GB" sz="1400" b="1" dirty="0">
                          <a:latin typeface="+mn-lt"/>
                        </a:rPr>
                        <a:t>4</a:t>
                      </a:r>
                      <a:endParaRPr lang="ko-Kore-GB" altLang="en-US" sz="14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altLang="ko-Kore-GB" sz="1400" b="1" dirty="0" err="1">
                          <a:latin typeface="+mn-lt"/>
                        </a:rPr>
                        <a:t>CountVectorizer</a:t>
                      </a:r>
                      <a:r>
                        <a:rPr lang="ko-KR" altLang="en-US" sz="1400" b="1" dirty="0">
                          <a:latin typeface="+mn-lt"/>
                        </a:rPr>
                        <a:t> </a:t>
                      </a:r>
                      <a:r>
                        <a:rPr lang="en-US" altLang="ko-KR" sz="1400" b="1" dirty="0">
                          <a:latin typeface="+mn-lt"/>
                        </a:rPr>
                        <a:t>+</a:t>
                      </a:r>
                      <a:r>
                        <a:rPr lang="ko-KR" altLang="en-US" sz="1400" b="1" dirty="0">
                          <a:latin typeface="+mn-lt"/>
                        </a:rPr>
                        <a:t> </a:t>
                      </a:r>
                      <a:r>
                        <a:rPr lang="ko-KR" altLang="en-US" sz="1400" b="1" dirty="0" err="1">
                          <a:latin typeface="+mn-lt"/>
                        </a:rPr>
                        <a:t>나이브</a:t>
                      </a:r>
                      <a:r>
                        <a:rPr lang="ko-KR" altLang="en-US" sz="1400" b="1" dirty="0">
                          <a:latin typeface="+mn-lt"/>
                        </a:rPr>
                        <a:t> </a:t>
                      </a:r>
                      <a:r>
                        <a:rPr lang="ko-KR" altLang="en-US" sz="1400" b="1" dirty="0" err="1">
                          <a:latin typeface="+mn-lt"/>
                        </a:rPr>
                        <a:t>베이즈</a:t>
                      </a:r>
                      <a:endParaRPr lang="ko-Kore-GB" altLang="en-US" sz="14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GB" dirty="0"/>
                        <a:t>0.485</a:t>
                      </a:r>
                      <a:endParaRPr lang="ko-Kore-GB" altLang="en-US" sz="14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704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ore-GB" sz="1400" b="1" dirty="0">
                          <a:latin typeface="+mn-lt"/>
                        </a:rPr>
                        <a:t>5</a:t>
                      </a:r>
                      <a:endParaRPr lang="ko-Kore-GB" altLang="en-US" sz="14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altLang="ko-Kore-GB" sz="1400" b="1" dirty="0">
                          <a:latin typeface="+mn-lt"/>
                        </a:rPr>
                        <a:t>SVD (TF-IDF</a:t>
                      </a:r>
                      <a:r>
                        <a:rPr lang="ko-KR" altLang="en-US" sz="1400" b="1" dirty="0" err="1">
                          <a:latin typeface="+mn-lt"/>
                        </a:rPr>
                        <a:t>를</a:t>
                      </a:r>
                      <a:r>
                        <a:rPr lang="ko-KR" altLang="en-US" sz="1400" b="1" dirty="0">
                          <a:latin typeface="+mn-lt"/>
                        </a:rPr>
                        <a:t> 축소 및 표준화</a:t>
                      </a:r>
                      <a:r>
                        <a:rPr lang="en-US" altLang="ko-KR" sz="1400" b="1" dirty="0">
                          <a:latin typeface="+mn-lt"/>
                        </a:rPr>
                        <a:t>)</a:t>
                      </a:r>
                      <a:r>
                        <a:rPr lang="ko-KR" altLang="en-US" sz="1400" b="1" dirty="0">
                          <a:latin typeface="+mn-lt"/>
                        </a:rPr>
                        <a:t> </a:t>
                      </a:r>
                      <a:r>
                        <a:rPr lang="en-US" altLang="ko-KR" sz="1400" b="1" dirty="0">
                          <a:latin typeface="+mn-lt"/>
                        </a:rPr>
                        <a:t>+</a:t>
                      </a:r>
                      <a:r>
                        <a:rPr lang="ko-KR" altLang="en-US" sz="1400" b="1" dirty="0">
                          <a:latin typeface="+mn-lt"/>
                        </a:rPr>
                        <a:t> </a:t>
                      </a:r>
                      <a:r>
                        <a:rPr lang="en" altLang="ko-Kore-GB" sz="1400" b="1" dirty="0">
                          <a:latin typeface="+mn-lt"/>
                        </a:rPr>
                        <a:t>SVM</a:t>
                      </a:r>
                      <a:endParaRPr lang="ko-Kore-GB" altLang="en-US" sz="14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GB" dirty="0"/>
                        <a:t>0.741</a:t>
                      </a:r>
                      <a:endParaRPr lang="ko-Kore-GB" altLang="en-US" sz="14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6062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ore-GB" sz="1400" b="1" dirty="0">
                          <a:latin typeface="+mn-lt"/>
                        </a:rPr>
                        <a:t>6</a:t>
                      </a:r>
                      <a:endParaRPr lang="ko-Kore-GB" altLang="en-US" sz="14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altLang="ko-Kore-GB" sz="1400" b="1" dirty="0">
                          <a:latin typeface="+mn-lt"/>
                        </a:rPr>
                        <a:t>TF-IDF</a:t>
                      </a:r>
                      <a:r>
                        <a:rPr lang="en-US" altLang="ko-KR" sz="1400" b="1" dirty="0">
                          <a:latin typeface="+mn-lt"/>
                        </a:rPr>
                        <a:t>+</a:t>
                      </a:r>
                      <a:r>
                        <a:rPr lang="ko-KR" altLang="en-US" sz="1400" b="1" dirty="0">
                          <a:latin typeface="+mn-lt"/>
                        </a:rPr>
                        <a:t> </a:t>
                      </a:r>
                      <a:r>
                        <a:rPr lang="en" altLang="ko-Kore-GB" sz="1400" b="1" dirty="0" err="1">
                          <a:latin typeface="+mn-lt"/>
                        </a:rPr>
                        <a:t>XGBoost</a:t>
                      </a:r>
                      <a:r>
                        <a:rPr lang="en" altLang="ko-Kore-GB" sz="1400" b="1" dirty="0">
                          <a:latin typeface="+mn-lt"/>
                        </a:rPr>
                        <a:t> </a:t>
                      </a:r>
                      <a:endParaRPr lang="ko-Kore-GB" altLang="en-US" sz="14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GB" dirty="0"/>
                        <a:t>0.782</a:t>
                      </a:r>
                      <a:endParaRPr lang="ko-Kore-GB" altLang="en-US" sz="14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04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ore-GB" sz="1400" b="1" dirty="0">
                          <a:latin typeface="+mn-lt"/>
                        </a:rPr>
                        <a:t>7</a:t>
                      </a:r>
                      <a:endParaRPr lang="ko-Kore-GB" altLang="en-US" sz="14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altLang="ko-Kore-GB" sz="1400" b="1" dirty="0" err="1">
                          <a:latin typeface="+mn-lt"/>
                        </a:rPr>
                        <a:t>CountVectorizer</a:t>
                      </a:r>
                      <a:r>
                        <a:rPr lang="ko-KR" altLang="en-US" sz="1400" b="1" dirty="0">
                          <a:latin typeface="+mn-lt"/>
                        </a:rPr>
                        <a:t> </a:t>
                      </a:r>
                      <a:r>
                        <a:rPr lang="en-US" altLang="ko-KR" sz="1400" b="1" dirty="0">
                          <a:latin typeface="+mn-lt"/>
                        </a:rPr>
                        <a:t>+</a:t>
                      </a:r>
                      <a:r>
                        <a:rPr lang="ko-KR" altLang="en-US" sz="1400" b="1" dirty="0">
                          <a:latin typeface="+mn-lt"/>
                        </a:rPr>
                        <a:t> </a:t>
                      </a:r>
                      <a:r>
                        <a:rPr lang="en" altLang="ko-Kore-GB" sz="1400" b="1" dirty="0" err="1">
                          <a:latin typeface="+mn-lt"/>
                        </a:rPr>
                        <a:t>XGBoost</a:t>
                      </a:r>
                      <a:r>
                        <a:rPr lang="en" altLang="ko-Kore-GB" sz="1400" b="1" dirty="0">
                          <a:latin typeface="+mn-lt"/>
                        </a:rPr>
                        <a:t> </a:t>
                      </a:r>
                      <a:endParaRPr lang="ko-Kore-GB" altLang="en-US" sz="14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GB" dirty="0"/>
                        <a:t>0.772</a:t>
                      </a:r>
                      <a:endParaRPr lang="ko-Kore-GB" altLang="en-US" sz="14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876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ore-GB" sz="1400" b="1" dirty="0">
                          <a:latin typeface="+mn-lt"/>
                        </a:rPr>
                        <a:t>8</a:t>
                      </a:r>
                      <a:endParaRPr lang="ko-Kore-GB" altLang="en-US" sz="14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altLang="ko-Kore-GB" sz="1400" b="1" dirty="0">
                          <a:latin typeface="+mn-lt"/>
                        </a:rPr>
                        <a:t>SVD (TF-IDF</a:t>
                      </a:r>
                      <a:r>
                        <a:rPr lang="ko-KR" altLang="en-US" sz="1400" b="1" dirty="0" err="1">
                          <a:latin typeface="+mn-lt"/>
                        </a:rPr>
                        <a:t>를</a:t>
                      </a:r>
                      <a:r>
                        <a:rPr lang="ko-KR" altLang="en-US" sz="1400" b="1" dirty="0">
                          <a:latin typeface="+mn-lt"/>
                        </a:rPr>
                        <a:t> 축소 및 표준화</a:t>
                      </a:r>
                      <a:r>
                        <a:rPr lang="en-US" altLang="ko-KR" sz="1400" b="1" dirty="0">
                          <a:latin typeface="+mn-lt"/>
                        </a:rPr>
                        <a:t>)</a:t>
                      </a:r>
                      <a:r>
                        <a:rPr lang="ko-KR" altLang="en-US" sz="1400" b="1" dirty="0">
                          <a:latin typeface="+mn-lt"/>
                        </a:rPr>
                        <a:t> </a:t>
                      </a:r>
                      <a:r>
                        <a:rPr lang="en-US" altLang="ko-KR" sz="1400" b="1" dirty="0">
                          <a:latin typeface="+mn-lt"/>
                        </a:rPr>
                        <a:t>+</a:t>
                      </a:r>
                      <a:r>
                        <a:rPr lang="ko-KR" altLang="en-US" sz="1400" b="1" dirty="0">
                          <a:latin typeface="+mn-lt"/>
                        </a:rPr>
                        <a:t> </a:t>
                      </a:r>
                      <a:r>
                        <a:rPr lang="en" altLang="ko-Kore-GB" sz="1400" b="1" dirty="0" err="1">
                          <a:latin typeface="+mn-lt"/>
                        </a:rPr>
                        <a:t>XGBoost</a:t>
                      </a:r>
                      <a:r>
                        <a:rPr lang="en" altLang="ko-Kore-GB" sz="1400" b="1" dirty="0">
                          <a:latin typeface="+mn-lt"/>
                        </a:rPr>
                        <a:t> </a:t>
                      </a:r>
                      <a:endParaRPr lang="ko-Kore-GB" altLang="en-US" sz="14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GB" dirty="0"/>
                        <a:t>0.768</a:t>
                      </a:r>
                      <a:endParaRPr lang="ko-Kore-GB" altLang="en-US" sz="14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60691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3614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1408974" y="306875"/>
            <a:ext cx="7735026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fontAlgn="base"/>
            <a:r>
              <a:rPr lang="en-US" altLang="ko-KR" sz="2800" b="1" i="0" dirty="0">
                <a:solidFill>
                  <a:srgbClr val="202124"/>
                </a:solidFill>
                <a:effectLst/>
                <a:latin typeface="+mj-lt"/>
              </a:rPr>
              <a:t>2.</a:t>
            </a:r>
            <a:r>
              <a:rPr lang="ko-KR" altLang="en-US" sz="2800" b="1" i="0" dirty="0">
                <a:solidFill>
                  <a:srgbClr val="202124"/>
                </a:solidFill>
                <a:effectLst/>
                <a:latin typeface="+mj-lt"/>
              </a:rPr>
              <a:t> </a:t>
            </a:r>
            <a:r>
              <a:rPr lang="en" altLang="ko-Kore-GB" sz="2800" b="1" dirty="0">
                <a:solidFill>
                  <a:srgbClr val="202124"/>
                </a:solidFill>
                <a:latin typeface="+mj-lt"/>
              </a:rPr>
              <a:t>Approaching Any NLP Problem on Kaggle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4F4A29-B06D-5543-9C95-022B9724AC09}"/>
              </a:ext>
            </a:extLst>
          </p:cNvPr>
          <p:cNvSpPr txBox="1"/>
          <p:nvPr/>
        </p:nvSpPr>
        <p:spPr>
          <a:xfrm>
            <a:off x="1408974" y="1055550"/>
            <a:ext cx="7349275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b="1" dirty="0"/>
              <a:t>3.</a:t>
            </a:r>
            <a:r>
              <a:rPr lang="ko-KR" altLang="en-US" b="1" dirty="0"/>
              <a:t> </a:t>
            </a:r>
            <a:r>
              <a:rPr lang="en-US" altLang="ko-KR" b="1" dirty="0"/>
              <a:t>Deep</a:t>
            </a:r>
            <a:r>
              <a:rPr lang="ko-KR" altLang="en-US" b="1" dirty="0"/>
              <a:t> </a:t>
            </a:r>
            <a:r>
              <a:rPr lang="en-US" altLang="ko-KR" b="1" dirty="0"/>
              <a:t>learning:</a:t>
            </a:r>
            <a:r>
              <a:rPr lang="ko-KR" altLang="en-US" b="1" dirty="0"/>
              <a:t> </a:t>
            </a:r>
            <a:endParaRPr lang="en-US" altLang="ko-KR" b="1" dirty="0"/>
          </a:p>
          <a:p>
            <a:pPr marL="285750" indent="-285750" algn="just">
              <a:buFontTx/>
              <a:buChar char="-"/>
            </a:pPr>
            <a:r>
              <a:rPr lang="en-US" altLang="ko-KR" b="1" dirty="0"/>
              <a:t>Dense</a:t>
            </a:r>
            <a:r>
              <a:rPr lang="ko-KR" altLang="en-US" b="1" dirty="0"/>
              <a:t> </a:t>
            </a:r>
            <a:r>
              <a:rPr lang="en-US" altLang="ko-KR" b="1" dirty="0"/>
              <a:t>network</a:t>
            </a:r>
            <a:r>
              <a:rPr lang="ko-KR" altLang="en-US" b="1" dirty="0"/>
              <a:t> 모델  </a:t>
            </a:r>
            <a:endParaRPr lang="en-US" altLang="ko-KR" b="1" dirty="0"/>
          </a:p>
          <a:p>
            <a:pPr marL="285750" indent="-285750" algn="just">
              <a:buFontTx/>
              <a:buChar char="-"/>
            </a:pPr>
            <a:r>
              <a:rPr lang="en-US" altLang="ko-KR" b="1" dirty="0"/>
              <a:t>LSTM </a:t>
            </a:r>
            <a:r>
              <a:rPr lang="ko-KR" altLang="en-US" b="1" dirty="0"/>
              <a:t>모델 </a:t>
            </a:r>
            <a:endParaRPr lang="en-US" altLang="ko-KR" b="1" dirty="0"/>
          </a:p>
          <a:p>
            <a:pPr marL="285750" indent="-285750" algn="just">
              <a:buFontTx/>
              <a:buChar char="-"/>
            </a:pPr>
            <a:r>
              <a:rPr lang="en-US" altLang="ko-Kore-GB" b="1" dirty="0">
                <a:solidFill>
                  <a:srgbClr val="202214"/>
                </a:solidFill>
                <a:latin typeface="Inter"/>
              </a:rPr>
              <a:t>Early stopping </a:t>
            </a:r>
            <a:r>
              <a:rPr lang="ko-KR" altLang="en-US" b="1" dirty="0">
                <a:solidFill>
                  <a:srgbClr val="202214"/>
                </a:solidFill>
                <a:latin typeface="Inter"/>
              </a:rPr>
              <a:t>통한 </a:t>
            </a:r>
            <a:r>
              <a:rPr lang="en-US" altLang="ko-KR" b="1" dirty="0">
                <a:solidFill>
                  <a:srgbClr val="202214"/>
                </a:solidFill>
                <a:latin typeface="Inter"/>
              </a:rPr>
              <a:t>LSTM </a:t>
            </a:r>
            <a:r>
              <a:rPr lang="ko-KR" altLang="en-US" b="1" dirty="0">
                <a:solidFill>
                  <a:srgbClr val="202214"/>
                </a:solidFill>
                <a:latin typeface="Inter"/>
              </a:rPr>
              <a:t>최적화 </a:t>
            </a:r>
            <a:endParaRPr lang="en-US" altLang="ko-KR" b="1" dirty="0">
              <a:solidFill>
                <a:srgbClr val="202214"/>
              </a:solidFill>
              <a:latin typeface="Inter"/>
            </a:endParaRPr>
          </a:p>
          <a:p>
            <a:pPr marL="285750" indent="-285750" algn="just">
              <a:buFontTx/>
              <a:buChar char="-"/>
            </a:pPr>
            <a:r>
              <a:rPr lang="en-US" altLang="ko-Kore-GB" b="1" i="0" dirty="0">
                <a:solidFill>
                  <a:srgbClr val="202214"/>
                </a:solidFill>
                <a:effectLst/>
                <a:latin typeface="Inter"/>
              </a:rPr>
              <a:t>Bi-directional </a:t>
            </a:r>
            <a:r>
              <a:rPr lang="en-US" altLang="ko-Kore-GB" b="1" dirty="0">
                <a:solidFill>
                  <a:srgbClr val="202214"/>
                </a:solidFill>
                <a:latin typeface="Inter"/>
              </a:rPr>
              <a:t>LSTM </a:t>
            </a:r>
          </a:p>
          <a:p>
            <a:pPr marL="285750" indent="-285750" algn="just">
              <a:buFontTx/>
              <a:buChar char="-"/>
            </a:pPr>
            <a:r>
              <a:rPr lang="en-US" altLang="ko-Kore-GB" b="1" i="0" dirty="0">
                <a:solidFill>
                  <a:srgbClr val="202214"/>
                </a:solidFill>
                <a:effectLst/>
                <a:latin typeface="Inter"/>
              </a:rPr>
              <a:t>GRU </a:t>
            </a:r>
            <a:r>
              <a:rPr lang="ko-KR" altLang="en-US" b="1" i="0" dirty="0">
                <a:solidFill>
                  <a:srgbClr val="202214"/>
                </a:solidFill>
                <a:effectLst/>
                <a:latin typeface="Inter"/>
              </a:rPr>
              <a:t>모델 </a:t>
            </a:r>
            <a:endParaRPr lang="en-US" altLang="ko-KR" b="1" i="0" dirty="0">
              <a:solidFill>
                <a:srgbClr val="202214"/>
              </a:solidFill>
              <a:effectLst/>
              <a:latin typeface="Inter"/>
            </a:endParaRPr>
          </a:p>
          <a:p>
            <a:pPr marL="285750" indent="-285750" algn="just">
              <a:buFontTx/>
              <a:buChar char="-"/>
            </a:pPr>
            <a:r>
              <a:rPr lang="en-US" altLang="ko-KR" b="1" dirty="0">
                <a:solidFill>
                  <a:srgbClr val="202214"/>
                </a:solidFill>
                <a:latin typeface="Inter"/>
              </a:rPr>
              <a:t>+</a:t>
            </a:r>
            <a:r>
              <a:rPr lang="ko-KR" altLang="en-US" b="1" i="0" dirty="0">
                <a:solidFill>
                  <a:srgbClr val="202214"/>
                </a:solidFill>
                <a:effectLst/>
                <a:latin typeface="Inter"/>
              </a:rPr>
              <a:t> 앙상블 </a:t>
            </a:r>
            <a:endParaRPr lang="en" altLang="ko-Kore-GB" b="1" i="0" dirty="0">
              <a:solidFill>
                <a:srgbClr val="202214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51377787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644</Words>
  <Application>Microsoft Macintosh PowerPoint</Application>
  <PresentationFormat>화면 슬라이드 쇼(16:9)</PresentationFormat>
  <Paragraphs>109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8" baseType="lpstr">
      <vt:lpstr>-apple-system</vt:lpstr>
      <vt:lpstr>Inter</vt:lpstr>
      <vt:lpstr>맑은 고딕</vt:lpstr>
      <vt:lpstr>나눔고딕</vt:lpstr>
      <vt:lpstr>Noto Sans Demilight</vt:lpstr>
      <vt:lpstr>Arial</vt:lpstr>
      <vt:lpstr>Helvetica Neue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조효원</dc:creator>
  <cp:lastModifiedBy>나인영</cp:lastModifiedBy>
  <cp:revision>26</cp:revision>
  <dcterms:modified xsi:type="dcterms:W3CDTF">2024-10-31T08:08:25Z</dcterms:modified>
</cp:coreProperties>
</file>